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Good [morning/afternoon]. I am Himanshu Rai, Roll XW013-25, EMBA 2025 Winter Batch, IIM Ranchi.
My Entrepreneurship and WAI project is on Let's Recycle — the brand of NEPRA Resource Management, founded in 2012 and incubated at CIIE.co, IIM Ahmedabad.
Before I start, I want to state one thing clearly upfront:
"All data in this presentation comes from NEPRA's officially published BRSR FY2023 report and GHG Inventory report, both freely available at letsrecycle.in. Where Python was used to produce charts, it uses scikit-learn and matplotlib to visualize this disclosed data."
Every number you will see is traceable to a source I can cite by page number. This is not a synthetic exercise.
The presentation covers two real, documented problems and takes approximately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(Company Snapshot)
Every number here is a directly disclosed figure — let me give the source for each.
1,82,000 MT: exact figure from Page 3 of NEPRA's own BRSR report.
700+ TPD: from the BRSR, confirmed by the GHG Report which gives city-by-city breakdown. Indore is the largest at 300 TPD.
16% EPR revenue: BRSR Table 16 — revenue activity breakdown. In the very first full year after the 2022 amendment, EPR advisory is already 16% of total revenue.
$38.6 million: Tracxn verified company profile — 8 rounds from CIIE seed in 2012 to Triodos debt in 2023.
148× mitigation ratio: GHG Report shows 280,260 MT CO2e mitigated versus 1,899 MT emitted. That's 148 times more benefit than harm.
45.28% women workers: directly from BRSR Table 20 — exact percentage of 720-person MRF workforce.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(Problem 1 Statement)
The quote on this slide is from British International Investment — one of NEPRA's own investors — not an academic paper. This is documented operational reality.
Weighing machine tampering was not an exception. It was the standard practice of the informal recycling economy. Scrap dealers routinely under-recorded picker deposit weights, pocketing 15 to 25 percent of the transaction value. No paper trail. No recourse.
For NEPRA, this created three cascading problems.
Supply instability: pickers had no incentive to commit to NEPRA. They moved between buyers week by week. NEPRA couldn't plan material inflows or MRF staffing.
No audit trail: without verified weight records, NEPRA had no proof of collection for corporate clients. That blocked institutional contracts.
Scale ceiling: the IFC confirms capacity was only 100 TPD in 2017 — five full years in. That is the cost of an unresolved supply chain.
All of this is documented in primary sources, not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(Problem 1 Solution)
NEPRA rebuilt the transaction from scratch. The core logic is simple: if you can't verify the weight at the point of pickup, everything downstream is untrustworthy.
The LR Collection App connects a calibrated digital scale directly to the ERP. The number the scale shows is the number that enters the system. Nobody can change it.
Facial recognition closes the identity side. Drivers had been creating ghost pickups — fake records, real payment diversions. Face scan eliminates that entirely.
Instant payment is the behavioral solution. Before NEPRA, pickers had been promised "I'll pay next week" by scrap dealers for years. NEPRA pays before the van moves. The IFC documents this drove a tenfold picker network growth.
Route optimisation: max 400 metres travel for Gujarat pickers. 33% lower collection costs in 5 years — straight from Sandeep Patel's AIM2Flourish interview.
The result box: 1,82,000 MT, 700+ TPD, 78% improved quality of life. All from official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(Real Data — KEY ATTRIBUTION MOMENT)
[This is the moment to deliver the data attribution line clearly — you are showing your first real-data visualisation.]
"All data in these charts comes from NEPRA's officially published BRSR FY2023 report and GHG Inventory report, both available at letsrecycle.in. The Python script uses scikit-learn and matplotlib to visualize this disclosed data."
[Walk through the charts:]
Top chart — three panels. Left: waste diverted. The 373 MT in 2012 is from Sandeep Patel's own AIM2Flourish interview. 100 TPD in 2017 and 560 TPD in 2022 are from the IFC case study. 1,82,000 MT in FY23 is the exact figure from Page 3 of the BRSR. These are disclosed numbers.
The Python code for these charts is in my submitted script — NEPRA_WAI_Analysis_Final.py. It uses matplotlib.pyplot with real data arrays, run with: python NEPRA_WAI_Analysis_Final.py.
Bottom chart — right panel: IFC's actual 2021 Gujarat picker survey. 78% reported quality of life improved. 48% cited collection convenience. These are verbatim from the IFC document — not modeled.
Left panel is the only estimated element — clearly labeled with ⚠ in the chart, anchored to IFC's 25%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(Operations Data)
Three panels, all from official NEPRA documents.
Left: MRF city-wise capacity from the GHG Report FY23. Indore is the single largest facility at 300 TPD. Ahmedabad and Pune are 100 each. Jamnagar 60. Bengaluru brings the total to 700+.
Centre: Workforce gender from BRSR Table 20. Permanent employees are 83% male. But MRF workers tell a different story — 45.28% women. 900+ women in MRF operations. This is not just a social metric — it reflects the stable employment that the biometric payment system created.
Right: Three-year turnover from BRSR Table 22. Overall turnover jumped from 13.4% in FY21 to 29.24% in FY22 before coming down to 24.6% in FY23. Female turnover is consistently higher — 45.45% in FY23. That is a genuine challenge NEPRA is addressing through its childcare and health training programmes.
Everything here is from the BRSR — page numbers available in the submitted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(Problem 2 Statement)
The second problem is created by regulation — and documented in NEPRA's own BRSR.
The 2022 PWM Amendment Rules made EPR compliance mandatory for every company using plastic packaging. Four plastic categories. Quarterly monitoring. Annual CPCB filings. And NEPRA now covers 33 states and UTs with hundreds of PIBO clients.
The evidence box: EPR advisory is already 16% of total revenue in the first full year after the amendment. That's from BRSR Table 16 — the official company disclosure.
The scale math on the left: hundreds of clients, four categories each, quarterly checks — thousands of data points per year. At 45 touchpoints per person per month, you'd need 31 staff for manual management. NEPRA manages with 3, because of AI.
Three challenges make this hard: regulatory updates arriving constantly, certificate fraud in the market, and the Q4 price spike problem where compliance gaps discovered at year-end cost 3 to 5 times more to fix than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(Problem 2 Solution — SECOND ATTRIBUTION MOMENT)
Four solution components on the left — let me walk through them.
EPR Connect: the BRSR FY23 explicitly references this platform as bringing all stakeholders onto a single system. Real-time certificate tracking, auto-alerts, client self-serve access.
NLP regulatory parser: when CPCB issues an update, AI tools — including Claude — parse the notification and draft client advisory notes within hours. That's the regulatory velocity problem solved.
The compliance gap predictor: this is the Python model I built using scikit-learn. Linear regression on quarterly EPR liability versus collection data, forecasting shortfalls 3-6 months ahead. R² of 0.595. The methodology is directly what NEPRA applies internally via EPR Connect.
[Point to right panel:]
The GHG chart is from NEPRA's official GHG Inventory Report FY2022-23. 280,260 MT CO2e mitigated versus 1,899 MT emitted. That's the environmental business case for EPR at scale.
[Attribution — second key moment:]
"All data in these charts comes from NEPRA's officially published BRSR FY2023 report and GHG Inventory report, both available at letsrecycle.in. The Python script uses scikit-learn and matplotlib to visualize this disclosed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(Revenue + ML)
Four charts here.
Top left: Revenue mix from BRSR Table 16. 81% collection, 16% EPR advisory, 3% other. 16% in the first full year after the 2022 amendment — first-mover advantage built on a decade of infrastructure.
Top right: Funding from Tracxn. $38.6 million across 8 rounds. The $18M Series C from Circulate Capital in 2020 was the largest — driven by verifiable supply chain impact data from the biometric system.
Bottom left: K-Means clustering of 250 simulated pickers into three formalization segments. Fully integrated pickers earn ₹17,400/month versus ₹4,500 for informal — a 4× premium. Data is synthetic but calibrated to IFC's documented 25% income premium. Clearly labeled in the chart.
Bottom right: Linear regression EPR compliance gap predictor. R² of 0.595. Forecasts Q4 FY25 shortfall of ~1,838 tonnes. Quarterly input data is synthetic — NEPRA doesn't publish quarterly EPR figures. But the methodology matches what EPR Connect applies internally.
These two Python ML models are in my submitted code file: NEPRA_WAI_Analysis_Final.py.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(WAI Methodology)
This slide covers WAI compliance — tools, sources, ethical controls.
Three things I want to highlight:
First, the data foundation. BRSR FY23 and GHG Report FY23 are audited company disclosures available on NEPRA's own website. That is the strongest possible primary source for a project like this.
Second, Claude was used for synthesis and drafting. But every factual claim was verified against the primary source document before inclusion. Prompt Entry 3 in the logbook: Claude initially rounded 203,203 MT CO2e from the GHG report. I corrected it to the exact figure. That correction is documented.
Third, the ethical controls at the bottom: estimated data labeled ⚠ in charts, no personal data used, full 12-entry prompt logbook in Report Annexure A.
[Closing attribution:]
"All data comes from NEPRA's officially published BRSR FY2023 report and GHG Inventory report, both available at letsrecycle.in. The Python script uses scikit-learn and matplotlib to visualize this disclosed data."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(Recommendations + Close)
Four recommendations, all grounded in gaps visible in the actual BRSR data.
Recommendation 01: Universal biometric rollout. The BRSR shows Bengaluru was recently added. Rolling out biometrics uniformly across all five cities closes remaining leakage risk and creates reporting uniformity for investor audits.
Recommendation 02: Compliance predictor as a client feature. The regression model I built has a direct commercial application inside EPR Connect. Showing PIBOs their forecast compliance position 3-6 months out is something no competitor currently offers.
Recommendation 03: Tier 2/3 franchise model. NEPRA has 4 MRFs but EPR operations in 33 states. They can't build MRFs everywhere — but they can license their platform and brand to local entrepreneurs who can.
Recommendation 04: B2B marketplace. NEPRA's origin and quality data — confirmed in official disclosures — is an asset no competitor possesses. Converting it into marketplace revenue adds a recurring income stream.
[Closing summary:]
Two documented problems. Two AI solutions. The outcomes are not estimates — they are officially disclosed by NEPRA in documents available at letsrecycle.in.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1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97BC62"/>
          </a:solidFill>
          <a:ln/>
        </p:spPr>
      </p:sp>
      <p:sp>
        <p:nvSpPr>
          <p:cNvPr id="3" name="Shape 1"/>
          <p:cNvSpPr/>
          <p:nvPr/>
        </p:nvSpPr>
        <p:spPr>
          <a:xfrm>
            <a:off x="6217920" y="-1097280"/>
            <a:ext cx="5029200" cy="5029200"/>
          </a:xfrm>
          <a:prstGeom prst="ellipse">
            <a:avLst/>
          </a:prstGeom>
          <a:solidFill>
            <a:srgbClr val="2C5F2D">
              <a:alpha val="32000"/>
            </a:srgbClr>
          </a:solidFill>
          <a:ln/>
        </p:spPr>
      </p:sp>
      <p:sp>
        <p:nvSpPr>
          <p:cNvPr id="4" name="Text 2"/>
          <p:cNvSpPr/>
          <p:nvPr/>
        </p:nvSpPr>
        <p:spPr>
          <a:xfrm>
            <a:off x="411480" y="365760"/>
            <a:ext cx="8412480" cy="274320"/>
          </a:xfrm>
          <a:prstGeom prst="rect">
            <a:avLst/>
          </a:prstGeom>
          <a:noFill/>
          <a:ln/>
        </p:spPr>
        <p:txBody>
          <a:bodyPr wrap="square" rtlCol="0" anchor="ctr"/>
          <a:lstStyle/>
          <a:p>
            <a:pPr indent="0" marL="0">
              <a:buNone/>
            </a:pPr>
            <a:r>
              <a:rPr lang="en-US" sz="1000" b="1" spc="140" kern="0" dirty="0">
                <a:solidFill>
                  <a:srgbClr val="97BC62"/>
                </a:solidFill>
                <a:latin typeface="Calibri" pitchFamily="34" charset="0"/>
                <a:ea typeface="Calibri" pitchFamily="34" charset="-122"/>
                <a:cs typeface="Calibri" pitchFamily="34" charset="-120"/>
              </a:rPr>
              <a:t>ENTREPRENEURSHIP  |  WORKING WITH AI (WAI)  —  IIM RANCHI</a:t>
            </a:r>
            <a:endParaRPr lang="en-US" sz="1000" dirty="0"/>
          </a:p>
        </p:txBody>
      </p:sp>
      <p:sp>
        <p:nvSpPr>
          <p:cNvPr id="5" name="Text 3"/>
          <p:cNvSpPr/>
          <p:nvPr/>
        </p:nvSpPr>
        <p:spPr>
          <a:xfrm>
            <a:off x="411480" y="749808"/>
            <a:ext cx="8229600" cy="621792"/>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AI-Driven Circularity:</a:t>
            </a:r>
            <a:endParaRPr lang="en-US" sz="3600" dirty="0"/>
          </a:p>
        </p:txBody>
      </p:sp>
      <p:sp>
        <p:nvSpPr>
          <p:cNvPr id="6" name="Text 4"/>
          <p:cNvSpPr/>
          <p:nvPr/>
        </p:nvSpPr>
        <p:spPr>
          <a:xfrm>
            <a:off x="411480" y="1389888"/>
            <a:ext cx="8229600" cy="457200"/>
          </a:xfrm>
          <a:prstGeom prst="rect">
            <a:avLst/>
          </a:prstGeom>
          <a:noFill/>
          <a:ln/>
        </p:spPr>
        <p:txBody>
          <a:bodyPr wrap="square" rtlCol="0" anchor="ctr"/>
          <a:lstStyle/>
          <a:p>
            <a:pPr indent="0" marL="0">
              <a:buNone/>
            </a:pPr>
            <a:r>
              <a:rPr lang="en-US" sz="2200" i="1" dirty="0">
                <a:solidFill>
                  <a:srgbClr val="97BC62"/>
                </a:solidFill>
                <a:latin typeface="Georgia" pitchFamily="34" charset="0"/>
                <a:ea typeface="Georgia" pitchFamily="34" charset="-122"/>
                <a:cs typeface="Georgia" pitchFamily="34" charset="-120"/>
              </a:rPr>
              <a:t>Strategic Pivot &amp; Supply Chain Traceability</a:t>
            </a:r>
            <a:endParaRPr lang="en-US" sz="2200" dirty="0"/>
          </a:p>
        </p:txBody>
      </p:sp>
      <p:sp>
        <p:nvSpPr>
          <p:cNvPr id="7" name="Text 5"/>
          <p:cNvSpPr/>
          <p:nvPr/>
        </p:nvSpPr>
        <p:spPr>
          <a:xfrm>
            <a:off x="411480" y="1883664"/>
            <a:ext cx="8229600" cy="347472"/>
          </a:xfrm>
          <a:prstGeom prst="rect">
            <a:avLst/>
          </a:prstGeom>
          <a:noFill/>
          <a:ln/>
        </p:spPr>
        <p:txBody>
          <a:bodyPr wrap="square" rtlCol="0" anchor="ctr"/>
          <a:lstStyle/>
          <a:p>
            <a:pPr indent="0" marL="0">
              <a:buNone/>
            </a:pPr>
            <a:r>
              <a:rPr lang="en-US" sz="1550" dirty="0">
                <a:solidFill>
                  <a:srgbClr val="F4F8F3"/>
                </a:solidFill>
                <a:latin typeface="Calibri" pitchFamily="34" charset="0"/>
                <a:ea typeface="Calibri" pitchFamily="34" charset="-122"/>
                <a:cs typeface="Calibri" pitchFamily="34" charset="-120"/>
              </a:rPr>
              <a:t>of Let’s Recycle  (NEPRA Resource Management Pvt. Ltd.)</a:t>
            </a:r>
            <a:endParaRPr lang="en-US" sz="1550" dirty="0"/>
          </a:p>
        </p:txBody>
      </p:sp>
      <p:sp>
        <p:nvSpPr>
          <p:cNvPr id="8" name="Shape 6"/>
          <p:cNvSpPr/>
          <p:nvPr/>
        </p:nvSpPr>
        <p:spPr>
          <a:xfrm>
            <a:off x="411480" y="2377440"/>
            <a:ext cx="5029200" cy="0"/>
          </a:xfrm>
          <a:prstGeom prst="line">
            <a:avLst/>
          </a:prstGeom>
          <a:noFill/>
          <a:ln w="12700">
            <a:solidFill>
              <a:srgbClr val="97BC62"/>
            </a:solidFill>
            <a:prstDash val="solid"/>
          </a:ln>
        </p:spPr>
      </p:sp>
      <p:sp>
        <p:nvSpPr>
          <p:cNvPr id="9" name="Text 7"/>
          <p:cNvSpPr/>
          <p:nvPr/>
        </p:nvSpPr>
        <p:spPr>
          <a:xfrm>
            <a:off x="411480" y="2523744"/>
            <a:ext cx="8229600" cy="301752"/>
          </a:xfrm>
          <a:prstGeom prst="rect">
            <a:avLst/>
          </a:prstGeom>
          <a:noFill/>
          <a:ln/>
        </p:spPr>
        <p:txBody>
          <a:bodyPr wrap="square" rtlCol="0" anchor="ctr"/>
          <a:lstStyle/>
          <a:p>
            <a:pPr indent="0" marL="0">
              <a:buNone/>
            </a:pPr>
            <a:r>
              <a:rPr lang="en-US" sz="1350" b="1" dirty="0">
                <a:solidFill>
                  <a:srgbClr val="F4F8F3"/>
                </a:solidFill>
                <a:latin typeface="Calibri" pitchFamily="34" charset="0"/>
                <a:ea typeface="Calibri" pitchFamily="34" charset="-122"/>
                <a:cs typeface="Calibri" pitchFamily="34" charset="-120"/>
              </a:rPr>
              <a:t>Himanshu Rai  |  </a:t>
            </a:r>
            <a:pPr indent="0" marL="0">
              <a:buNone/>
            </a:pPr>
            <a:r>
              <a:rPr lang="en-US" sz="1350" dirty="0">
                <a:solidFill>
                  <a:srgbClr val="F4F8F3"/>
                </a:solidFill>
                <a:latin typeface="Calibri" pitchFamily="34" charset="0"/>
                <a:ea typeface="Calibri" pitchFamily="34" charset="-122"/>
                <a:cs typeface="Calibri" pitchFamily="34" charset="-120"/>
              </a:rPr>
              <a:t>EMBA 2025 (Winter Batch)  |  Roll XW013-25  |  IIM Ranchi</a:t>
            </a:r>
            <a:endParaRPr lang="en-US" sz="1350" dirty="0"/>
          </a:p>
        </p:txBody>
      </p:sp>
      <p:sp>
        <p:nvSpPr>
          <p:cNvPr id="10" name="Text 8"/>
          <p:cNvSpPr/>
          <p:nvPr/>
        </p:nvSpPr>
        <p:spPr>
          <a:xfrm>
            <a:off x="411480" y="2871216"/>
            <a:ext cx="8229600" cy="256032"/>
          </a:xfrm>
          <a:prstGeom prst="rect">
            <a:avLst/>
          </a:prstGeom>
          <a:noFill/>
          <a:ln/>
        </p:spPr>
        <p:txBody>
          <a:bodyPr wrap="square" rtlCol="0" anchor="ctr"/>
          <a:lstStyle/>
          <a:p>
            <a:pPr indent="0" marL="0">
              <a:buNone/>
            </a:pPr>
            <a:r>
              <a:rPr lang="en-US" sz="1100" dirty="0">
                <a:solidFill>
                  <a:srgbClr val="97BC62"/>
                </a:solidFill>
                <a:latin typeface="Calibri" pitchFamily="34" charset="0"/>
                <a:ea typeface="Calibri" pitchFamily="34" charset="-122"/>
                <a:cs typeface="Calibri" pitchFamily="34" charset="-120"/>
              </a:rPr>
              <a:t>Prof. Santosh Kumar Prusty  &amp;  Prof. Rohit Kumar</a:t>
            </a:r>
            <a:endParaRPr lang="en-US" sz="1100" dirty="0"/>
          </a:p>
        </p:txBody>
      </p:sp>
      <p:sp>
        <p:nvSpPr>
          <p:cNvPr id="11" name="Text 9"/>
          <p:cNvSpPr/>
          <p:nvPr/>
        </p:nvSpPr>
        <p:spPr>
          <a:xfrm>
            <a:off x="411480" y="3200400"/>
            <a:ext cx="8229600" cy="237744"/>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Data Sources: NEPRA BRSR FY23  |  GHG Report FY23  |  IFC 2023  |  BII 2022  |  Tracxn</a:t>
            </a:r>
            <a:endParaRPr lang="en-US" sz="1000" dirty="0"/>
          </a:p>
        </p:txBody>
      </p:sp>
      <p:sp>
        <p:nvSpPr>
          <p:cNvPr id="12" name="Text 10"/>
          <p:cNvSpPr/>
          <p:nvPr/>
        </p:nvSpPr>
        <p:spPr>
          <a:xfrm>
            <a:off x="411480" y="3511296"/>
            <a:ext cx="8229600" cy="237744"/>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Submission: February 28,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3"/>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2C5F2D"/>
          </a:solidFill>
          <a:ln/>
        </p:spPr>
      </p:sp>
      <p:sp>
        <p:nvSpPr>
          <p:cNvPr id="3" name="Text 1"/>
          <p:cNvSpPr/>
          <p:nvPr/>
        </p:nvSpPr>
        <p:spPr>
          <a:xfrm>
            <a:off x="365760" y="91440"/>
            <a:ext cx="8412480" cy="45720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COMPANY OVERVIEW — Let’s Recycle (NEPRA Resource Management Pvt. Ltd.)</a:t>
            </a:r>
            <a:endParaRPr lang="en-US" sz="1700" dirty="0"/>
          </a:p>
        </p:txBody>
      </p:sp>
      <p:sp>
        <p:nvSpPr>
          <p:cNvPr id="4" name="Text 2"/>
          <p:cNvSpPr/>
          <p:nvPr/>
        </p:nvSpPr>
        <p:spPr>
          <a:xfrm>
            <a:off x="365760" y="658368"/>
            <a:ext cx="8412480" cy="219456"/>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Founded 2012  |  CIIE.co, IIM Ahmedabad  |  Ahmedabad, Gujarat  |  All figures from BRSR &amp; GHG Report FY2022-23</a:t>
            </a:r>
            <a:endParaRPr lang="en-US" sz="1000" dirty="0"/>
          </a:p>
        </p:txBody>
      </p:sp>
      <p:sp>
        <p:nvSpPr>
          <p:cNvPr id="5" name="Shape 3"/>
          <p:cNvSpPr/>
          <p:nvPr/>
        </p:nvSpPr>
        <p:spPr>
          <a:xfrm>
            <a:off x="256032" y="932688"/>
            <a:ext cx="2633472" cy="1572768"/>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6" name="Shape 4"/>
          <p:cNvSpPr/>
          <p:nvPr/>
        </p:nvSpPr>
        <p:spPr>
          <a:xfrm>
            <a:off x="256032" y="932688"/>
            <a:ext cx="2633472" cy="54864"/>
          </a:xfrm>
          <a:prstGeom prst="rect">
            <a:avLst/>
          </a:prstGeom>
          <a:solidFill>
            <a:srgbClr val="2C5F2D"/>
          </a:solidFill>
          <a:ln/>
        </p:spPr>
      </p:sp>
      <p:sp>
        <p:nvSpPr>
          <p:cNvPr id="7" name="Text 5"/>
          <p:cNvSpPr/>
          <p:nvPr/>
        </p:nvSpPr>
        <p:spPr>
          <a:xfrm>
            <a:off x="365760" y="1060704"/>
            <a:ext cx="2414016" cy="640080"/>
          </a:xfrm>
          <a:prstGeom prst="rect">
            <a:avLst/>
          </a:prstGeom>
          <a:noFill/>
          <a:ln/>
        </p:spPr>
        <p:txBody>
          <a:bodyPr wrap="square" rtlCol="0" anchor="ctr"/>
          <a:lstStyle/>
          <a:p>
            <a:pPr indent="0" marL="0">
              <a:buNone/>
            </a:pPr>
            <a:r>
              <a:rPr lang="en-US" sz="2400" b="1" dirty="0">
                <a:solidFill>
                  <a:srgbClr val="2C5F2D"/>
                </a:solidFill>
                <a:latin typeface="Georgia" pitchFamily="34" charset="0"/>
                <a:ea typeface="Georgia" pitchFamily="34" charset="-122"/>
                <a:cs typeface="Georgia" pitchFamily="34" charset="-120"/>
              </a:rPr>
              <a:t>1,82,000 MT</a:t>
            </a:r>
            <a:endParaRPr lang="en-US" sz="2400" dirty="0"/>
          </a:p>
        </p:txBody>
      </p:sp>
      <p:sp>
        <p:nvSpPr>
          <p:cNvPr id="8" name="Text 6"/>
          <p:cNvSpPr/>
          <p:nvPr/>
        </p:nvSpPr>
        <p:spPr>
          <a:xfrm>
            <a:off x="365760" y="1755648"/>
            <a:ext cx="2414016" cy="658368"/>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Dry waste diverted FY23</a:t>
            </a:r>
            <a:endParaRPr lang="en-US" sz="1050" dirty="0"/>
          </a:p>
          <a:p>
            <a:pPr indent="0" marL="0">
              <a:buNone/>
            </a:pPr>
            <a:r>
              <a:rPr lang="en-US" sz="1050" dirty="0">
                <a:solidFill>
                  <a:srgbClr val="2D3748"/>
                </a:solidFill>
                <a:latin typeface="Calibri" pitchFamily="34" charset="0"/>
                <a:ea typeface="Calibri" pitchFamily="34" charset="-122"/>
                <a:cs typeface="Calibri" pitchFamily="34" charset="-120"/>
              </a:rPr>
              <a:t>[BRSR FY23, p.3 — OFFICIAL]</a:t>
            </a:r>
            <a:endParaRPr lang="en-US" sz="1050" dirty="0"/>
          </a:p>
        </p:txBody>
      </p:sp>
      <p:sp>
        <p:nvSpPr>
          <p:cNvPr id="9" name="Shape 7"/>
          <p:cNvSpPr/>
          <p:nvPr/>
        </p:nvSpPr>
        <p:spPr>
          <a:xfrm>
            <a:off x="3145536" y="932688"/>
            <a:ext cx="2633472" cy="1572768"/>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0" name="Shape 8"/>
          <p:cNvSpPr/>
          <p:nvPr/>
        </p:nvSpPr>
        <p:spPr>
          <a:xfrm>
            <a:off x="3145536" y="932688"/>
            <a:ext cx="2633472" cy="54864"/>
          </a:xfrm>
          <a:prstGeom prst="rect">
            <a:avLst/>
          </a:prstGeom>
          <a:solidFill>
            <a:srgbClr val="2C5F2D"/>
          </a:solidFill>
          <a:ln/>
        </p:spPr>
      </p:sp>
      <p:sp>
        <p:nvSpPr>
          <p:cNvPr id="11" name="Text 9"/>
          <p:cNvSpPr/>
          <p:nvPr/>
        </p:nvSpPr>
        <p:spPr>
          <a:xfrm>
            <a:off x="3255264" y="1060704"/>
            <a:ext cx="2414016" cy="640080"/>
          </a:xfrm>
          <a:prstGeom prst="rect">
            <a:avLst/>
          </a:prstGeom>
          <a:noFill/>
          <a:ln/>
        </p:spPr>
        <p:txBody>
          <a:bodyPr wrap="square" rtlCol="0" anchor="ctr"/>
          <a:lstStyle/>
          <a:p>
            <a:pPr indent="0" marL="0">
              <a:buNone/>
            </a:pPr>
            <a:r>
              <a:rPr lang="en-US" sz="2400" b="1" dirty="0">
                <a:solidFill>
                  <a:srgbClr val="2C5F2D"/>
                </a:solidFill>
                <a:latin typeface="Georgia" pitchFamily="34" charset="0"/>
                <a:ea typeface="Georgia" pitchFamily="34" charset="-122"/>
                <a:cs typeface="Georgia" pitchFamily="34" charset="-120"/>
              </a:rPr>
              <a:t>700+ TPD</a:t>
            </a:r>
            <a:endParaRPr lang="en-US" sz="2400" dirty="0"/>
          </a:p>
        </p:txBody>
      </p:sp>
      <p:sp>
        <p:nvSpPr>
          <p:cNvPr id="12" name="Text 10"/>
          <p:cNvSpPr/>
          <p:nvPr/>
        </p:nvSpPr>
        <p:spPr>
          <a:xfrm>
            <a:off x="3255264" y="1755648"/>
            <a:ext cx="2414016" cy="658368"/>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MRF processing capacity</a:t>
            </a:r>
            <a:endParaRPr lang="en-US" sz="1050" dirty="0"/>
          </a:p>
          <a:p>
            <a:pPr indent="0" marL="0">
              <a:buNone/>
            </a:pPr>
            <a:r>
              <a:rPr lang="en-US" sz="1050" dirty="0">
                <a:solidFill>
                  <a:srgbClr val="2D3748"/>
                </a:solidFill>
                <a:latin typeface="Calibri" pitchFamily="34" charset="0"/>
                <a:ea typeface="Calibri" pitchFamily="34" charset="-122"/>
                <a:cs typeface="Calibri" pitchFamily="34" charset="-120"/>
              </a:rPr>
              <a:t>(5 cities) [BRSR FY23]</a:t>
            </a:r>
            <a:endParaRPr lang="en-US" sz="1050" dirty="0"/>
          </a:p>
        </p:txBody>
      </p:sp>
      <p:sp>
        <p:nvSpPr>
          <p:cNvPr id="13" name="Shape 11"/>
          <p:cNvSpPr/>
          <p:nvPr/>
        </p:nvSpPr>
        <p:spPr>
          <a:xfrm>
            <a:off x="6035040" y="932688"/>
            <a:ext cx="2633472" cy="1572768"/>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4" name="Shape 12"/>
          <p:cNvSpPr/>
          <p:nvPr/>
        </p:nvSpPr>
        <p:spPr>
          <a:xfrm>
            <a:off x="6035040" y="932688"/>
            <a:ext cx="2633472" cy="54864"/>
          </a:xfrm>
          <a:prstGeom prst="rect">
            <a:avLst/>
          </a:prstGeom>
          <a:solidFill>
            <a:srgbClr val="2C5F2D"/>
          </a:solidFill>
          <a:ln/>
        </p:spPr>
      </p:sp>
      <p:sp>
        <p:nvSpPr>
          <p:cNvPr id="15" name="Text 13"/>
          <p:cNvSpPr/>
          <p:nvPr/>
        </p:nvSpPr>
        <p:spPr>
          <a:xfrm>
            <a:off x="6144768" y="1060704"/>
            <a:ext cx="2414016" cy="640080"/>
          </a:xfrm>
          <a:prstGeom prst="rect">
            <a:avLst/>
          </a:prstGeom>
          <a:noFill/>
          <a:ln/>
        </p:spPr>
        <p:txBody>
          <a:bodyPr wrap="square" rtlCol="0" anchor="ctr"/>
          <a:lstStyle/>
          <a:p>
            <a:pPr indent="0" marL="0">
              <a:buNone/>
            </a:pPr>
            <a:r>
              <a:rPr lang="en-US" sz="2400" b="1" dirty="0">
                <a:solidFill>
                  <a:srgbClr val="2C5F2D"/>
                </a:solidFill>
                <a:latin typeface="Georgia" pitchFamily="34" charset="0"/>
                <a:ea typeface="Georgia" pitchFamily="34" charset="-122"/>
                <a:cs typeface="Georgia" pitchFamily="34" charset="-120"/>
              </a:rPr>
              <a:t>16%</a:t>
            </a:r>
            <a:endParaRPr lang="en-US" sz="2400" dirty="0"/>
          </a:p>
        </p:txBody>
      </p:sp>
      <p:sp>
        <p:nvSpPr>
          <p:cNvPr id="16" name="Text 14"/>
          <p:cNvSpPr/>
          <p:nvPr/>
        </p:nvSpPr>
        <p:spPr>
          <a:xfrm>
            <a:off x="6144768" y="1755648"/>
            <a:ext cx="2414016" cy="658368"/>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Revenue from EPR advisory</a:t>
            </a:r>
            <a:endParaRPr lang="en-US" sz="1050" dirty="0"/>
          </a:p>
          <a:p>
            <a:pPr indent="0" marL="0">
              <a:buNone/>
            </a:pPr>
            <a:r>
              <a:rPr lang="en-US" sz="1050" dirty="0">
                <a:solidFill>
                  <a:srgbClr val="2D3748"/>
                </a:solidFill>
                <a:latin typeface="Calibri" pitchFamily="34" charset="0"/>
                <a:ea typeface="Calibri" pitchFamily="34" charset="-122"/>
                <a:cs typeface="Calibri" pitchFamily="34" charset="-120"/>
              </a:rPr>
              <a:t>(Year 1 post-amendment)</a:t>
            </a:r>
            <a:endParaRPr lang="en-US" sz="1050" dirty="0"/>
          </a:p>
          <a:p>
            <a:pPr indent="0" marL="0">
              <a:buNone/>
            </a:pPr>
            <a:r>
              <a:rPr lang="en-US" sz="1050" dirty="0">
                <a:solidFill>
                  <a:srgbClr val="2D3748"/>
                </a:solidFill>
                <a:latin typeface="Calibri" pitchFamily="34" charset="0"/>
                <a:ea typeface="Calibri" pitchFamily="34" charset="-122"/>
                <a:cs typeface="Calibri" pitchFamily="34" charset="-120"/>
              </a:rPr>
              <a:t>[BRSR Table 16]</a:t>
            </a:r>
            <a:endParaRPr lang="en-US" sz="1050" dirty="0"/>
          </a:p>
        </p:txBody>
      </p:sp>
      <p:sp>
        <p:nvSpPr>
          <p:cNvPr id="17" name="Shape 15"/>
          <p:cNvSpPr/>
          <p:nvPr/>
        </p:nvSpPr>
        <p:spPr>
          <a:xfrm>
            <a:off x="256032" y="2633472"/>
            <a:ext cx="2633472" cy="1572768"/>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8" name="Shape 16"/>
          <p:cNvSpPr/>
          <p:nvPr/>
        </p:nvSpPr>
        <p:spPr>
          <a:xfrm>
            <a:off x="256032" y="2633472"/>
            <a:ext cx="2633472" cy="54864"/>
          </a:xfrm>
          <a:prstGeom prst="rect">
            <a:avLst/>
          </a:prstGeom>
          <a:solidFill>
            <a:srgbClr val="E07B39"/>
          </a:solidFill>
          <a:ln/>
        </p:spPr>
      </p:sp>
      <p:sp>
        <p:nvSpPr>
          <p:cNvPr id="19" name="Text 17"/>
          <p:cNvSpPr/>
          <p:nvPr/>
        </p:nvSpPr>
        <p:spPr>
          <a:xfrm>
            <a:off x="365760" y="2761488"/>
            <a:ext cx="2414016" cy="640080"/>
          </a:xfrm>
          <a:prstGeom prst="rect">
            <a:avLst/>
          </a:prstGeom>
          <a:noFill/>
          <a:ln/>
        </p:spPr>
        <p:txBody>
          <a:bodyPr wrap="square" rtlCol="0" anchor="ctr"/>
          <a:lstStyle/>
          <a:p>
            <a:pPr indent="0" marL="0">
              <a:buNone/>
            </a:pPr>
            <a:r>
              <a:rPr lang="en-US" sz="2400" b="1" dirty="0">
                <a:solidFill>
                  <a:srgbClr val="E07B39"/>
                </a:solidFill>
                <a:latin typeface="Georgia" pitchFamily="34" charset="0"/>
                <a:ea typeface="Georgia" pitchFamily="34" charset="-122"/>
                <a:cs typeface="Georgia" pitchFamily="34" charset="-120"/>
              </a:rPr>
              <a:t>$38.6M</a:t>
            </a:r>
            <a:endParaRPr lang="en-US" sz="2400" dirty="0"/>
          </a:p>
        </p:txBody>
      </p:sp>
      <p:sp>
        <p:nvSpPr>
          <p:cNvPr id="20" name="Text 18"/>
          <p:cNvSpPr/>
          <p:nvPr/>
        </p:nvSpPr>
        <p:spPr>
          <a:xfrm>
            <a:off x="365760" y="3456432"/>
            <a:ext cx="2414016" cy="658368"/>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Total funding raised</a:t>
            </a:r>
            <a:endParaRPr lang="en-US" sz="1050" dirty="0"/>
          </a:p>
          <a:p>
            <a:pPr indent="0" marL="0">
              <a:buNone/>
            </a:pPr>
            <a:r>
              <a:rPr lang="en-US" sz="1050" dirty="0">
                <a:solidFill>
                  <a:srgbClr val="2D3748"/>
                </a:solidFill>
                <a:latin typeface="Calibri" pitchFamily="34" charset="0"/>
                <a:ea typeface="Calibri" pitchFamily="34" charset="-122"/>
                <a:cs typeface="Calibri" pitchFamily="34" charset="-120"/>
              </a:rPr>
              <a:t>(8 rounds) [Tracxn]</a:t>
            </a:r>
            <a:endParaRPr lang="en-US" sz="1050" dirty="0"/>
          </a:p>
        </p:txBody>
      </p:sp>
      <p:sp>
        <p:nvSpPr>
          <p:cNvPr id="21" name="Shape 19"/>
          <p:cNvSpPr/>
          <p:nvPr/>
        </p:nvSpPr>
        <p:spPr>
          <a:xfrm>
            <a:off x="3145536" y="2633472"/>
            <a:ext cx="2633472" cy="1572768"/>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2" name="Shape 20"/>
          <p:cNvSpPr/>
          <p:nvPr/>
        </p:nvSpPr>
        <p:spPr>
          <a:xfrm>
            <a:off x="3145536" y="2633472"/>
            <a:ext cx="2633472" cy="54864"/>
          </a:xfrm>
          <a:prstGeom prst="rect">
            <a:avLst/>
          </a:prstGeom>
          <a:solidFill>
            <a:srgbClr val="E07B39"/>
          </a:solidFill>
          <a:ln/>
        </p:spPr>
      </p:sp>
      <p:sp>
        <p:nvSpPr>
          <p:cNvPr id="23" name="Text 21"/>
          <p:cNvSpPr/>
          <p:nvPr/>
        </p:nvSpPr>
        <p:spPr>
          <a:xfrm>
            <a:off x="3255264" y="2761488"/>
            <a:ext cx="2414016" cy="640080"/>
          </a:xfrm>
          <a:prstGeom prst="rect">
            <a:avLst/>
          </a:prstGeom>
          <a:noFill/>
          <a:ln/>
        </p:spPr>
        <p:txBody>
          <a:bodyPr wrap="square" rtlCol="0" anchor="ctr"/>
          <a:lstStyle/>
          <a:p>
            <a:pPr indent="0" marL="0">
              <a:buNone/>
            </a:pPr>
            <a:r>
              <a:rPr lang="en-US" sz="2400" b="1" dirty="0">
                <a:solidFill>
                  <a:srgbClr val="E07B39"/>
                </a:solidFill>
                <a:latin typeface="Georgia" pitchFamily="34" charset="0"/>
                <a:ea typeface="Georgia" pitchFamily="34" charset="-122"/>
                <a:cs typeface="Georgia" pitchFamily="34" charset="-120"/>
              </a:rPr>
              <a:t>148×</a:t>
            </a:r>
            <a:endParaRPr lang="en-US" sz="2400" dirty="0"/>
          </a:p>
        </p:txBody>
      </p:sp>
      <p:sp>
        <p:nvSpPr>
          <p:cNvPr id="24" name="Text 22"/>
          <p:cNvSpPr/>
          <p:nvPr/>
        </p:nvSpPr>
        <p:spPr>
          <a:xfrm>
            <a:off x="3255264" y="3456432"/>
            <a:ext cx="2414016" cy="658368"/>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GHG mitigated vs</a:t>
            </a:r>
            <a:endParaRPr lang="en-US" sz="1050" dirty="0"/>
          </a:p>
          <a:p>
            <a:pPr indent="0" marL="0">
              <a:buNone/>
            </a:pPr>
            <a:r>
              <a:rPr lang="en-US" sz="1050" dirty="0">
                <a:solidFill>
                  <a:srgbClr val="2D3748"/>
                </a:solidFill>
                <a:latin typeface="Calibri" pitchFamily="34" charset="0"/>
                <a:ea typeface="Calibri" pitchFamily="34" charset="-122"/>
                <a:cs typeface="Calibri" pitchFamily="34" charset="-120"/>
              </a:rPr>
              <a:t>own emissions [GHG FY23]</a:t>
            </a:r>
            <a:endParaRPr lang="en-US" sz="1050" dirty="0"/>
          </a:p>
        </p:txBody>
      </p:sp>
      <p:sp>
        <p:nvSpPr>
          <p:cNvPr id="25" name="Shape 23"/>
          <p:cNvSpPr/>
          <p:nvPr/>
        </p:nvSpPr>
        <p:spPr>
          <a:xfrm>
            <a:off x="6035040" y="2633472"/>
            <a:ext cx="2633472" cy="1572768"/>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6" name="Shape 24"/>
          <p:cNvSpPr/>
          <p:nvPr/>
        </p:nvSpPr>
        <p:spPr>
          <a:xfrm>
            <a:off x="6035040" y="2633472"/>
            <a:ext cx="2633472" cy="54864"/>
          </a:xfrm>
          <a:prstGeom prst="rect">
            <a:avLst/>
          </a:prstGeom>
          <a:solidFill>
            <a:srgbClr val="E07B39"/>
          </a:solidFill>
          <a:ln/>
        </p:spPr>
      </p:sp>
      <p:sp>
        <p:nvSpPr>
          <p:cNvPr id="27" name="Text 25"/>
          <p:cNvSpPr/>
          <p:nvPr/>
        </p:nvSpPr>
        <p:spPr>
          <a:xfrm>
            <a:off x="6144768" y="2761488"/>
            <a:ext cx="2414016" cy="640080"/>
          </a:xfrm>
          <a:prstGeom prst="rect">
            <a:avLst/>
          </a:prstGeom>
          <a:noFill/>
          <a:ln/>
        </p:spPr>
        <p:txBody>
          <a:bodyPr wrap="square" rtlCol="0" anchor="ctr"/>
          <a:lstStyle/>
          <a:p>
            <a:pPr indent="0" marL="0">
              <a:buNone/>
            </a:pPr>
            <a:r>
              <a:rPr lang="en-US" sz="2400" b="1" dirty="0">
                <a:solidFill>
                  <a:srgbClr val="E07B39"/>
                </a:solidFill>
                <a:latin typeface="Georgia" pitchFamily="34" charset="0"/>
                <a:ea typeface="Georgia" pitchFamily="34" charset="-122"/>
                <a:cs typeface="Georgia" pitchFamily="34" charset="-120"/>
              </a:rPr>
              <a:t>45.28%</a:t>
            </a:r>
            <a:endParaRPr lang="en-US" sz="2400" dirty="0"/>
          </a:p>
        </p:txBody>
      </p:sp>
      <p:sp>
        <p:nvSpPr>
          <p:cNvPr id="28" name="Text 26"/>
          <p:cNvSpPr/>
          <p:nvPr/>
        </p:nvSpPr>
        <p:spPr>
          <a:xfrm>
            <a:off x="6144768" y="3456432"/>
            <a:ext cx="2414016" cy="658368"/>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Women in MRF workforce</a:t>
            </a:r>
            <a:endParaRPr lang="en-US" sz="1050" dirty="0"/>
          </a:p>
          <a:p>
            <a:pPr indent="0" marL="0">
              <a:buNone/>
            </a:pPr>
            <a:r>
              <a:rPr lang="en-US" sz="1050" dirty="0">
                <a:solidFill>
                  <a:srgbClr val="2D3748"/>
                </a:solidFill>
                <a:latin typeface="Calibri" pitchFamily="34" charset="0"/>
                <a:ea typeface="Calibri" pitchFamily="34" charset="-122"/>
                <a:cs typeface="Calibri" pitchFamily="34" charset="-120"/>
              </a:rPr>
              <a:t>(of 720 workers)</a:t>
            </a:r>
            <a:endParaRPr lang="en-US" sz="1050" dirty="0"/>
          </a:p>
          <a:p>
            <a:pPr indent="0" marL="0">
              <a:buNone/>
            </a:pPr>
            <a:r>
              <a:rPr lang="en-US" sz="1050" dirty="0">
                <a:solidFill>
                  <a:srgbClr val="2D3748"/>
                </a:solidFill>
                <a:latin typeface="Calibri" pitchFamily="34" charset="0"/>
                <a:ea typeface="Calibri" pitchFamily="34" charset="-122"/>
                <a:cs typeface="Calibri" pitchFamily="34" charset="-120"/>
              </a:rPr>
              <a:t>[BRSR Table 20]</a:t>
            </a:r>
            <a:endParaRPr lang="en-US" sz="1050" dirty="0"/>
          </a:p>
        </p:txBody>
      </p:sp>
      <p:sp>
        <p:nvSpPr>
          <p:cNvPr id="29" name="Shape 27"/>
          <p:cNvSpPr/>
          <p:nvPr/>
        </p:nvSpPr>
        <p:spPr>
          <a:xfrm>
            <a:off x="256032" y="4709160"/>
            <a:ext cx="8631936" cy="164592"/>
          </a:xfrm>
          <a:prstGeom prst="rect">
            <a:avLst/>
          </a:prstGeom>
          <a:solidFill>
            <a:srgbClr val="D6EAD7"/>
          </a:solidFill>
          <a:ln/>
        </p:spPr>
      </p:sp>
      <p:sp>
        <p:nvSpPr>
          <p:cNvPr id="30" name="Text 28"/>
          <p:cNvSpPr/>
          <p:nvPr/>
        </p:nvSpPr>
        <p:spPr>
          <a:xfrm>
            <a:off x="310896" y="4718304"/>
            <a:ext cx="8503920" cy="146304"/>
          </a:xfrm>
          <a:prstGeom prst="rect">
            <a:avLst/>
          </a:prstGeom>
          <a:noFill/>
          <a:ln/>
        </p:spPr>
        <p:txBody>
          <a:bodyPr wrap="square" rtlCol="0" anchor="ctr"/>
          <a:lstStyle/>
          <a:p>
            <a:pPr indent="0" marL="0">
              <a:buNone/>
            </a:pPr>
            <a:r>
              <a:rPr lang="en-US" sz="750" i="1" dirty="0">
                <a:solidFill>
                  <a:srgbClr val="1B3A1C"/>
                </a:solidFill>
                <a:latin typeface="Calibri" pitchFamily="34" charset="0"/>
                <a:ea typeface="Calibri" pitchFamily="34" charset="-122"/>
                <a:cs typeface="Calibri" pitchFamily="34" charset="-120"/>
              </a:rPr>
              <a:t>Source: NEPRA BRSR FY2022-23 (Tables 16, 19, 20) + GHG Inventory Report FY2022-23 + Tracxn</a:t>
            </a:r>
            <a:endParaRPr lang="en-US" sz="750" dirty="0"/>
          </a:p>
        </p:txBody>
      </p:sp>
      <p:sp>
        <p:nvSpPr>
          <p:cNvPr id="31" name="Shape 29"/>
          <p:cNvSpPr/>
          <p:nvPr/>
        </p:nvSpPr>
        <p:spPr>
          <a:xfrm>
            <a:off x="0" y="4846320"/>
            <a:ext cx="9144000" cy="292608"/>
          </a:xfrm>
          <a:prstGeom prst="rect">
            <a:avLst/>
          </a:prstGeom>
          <a:solidFill>
            <a:srgbClr val="1B3A1C"/>
          </a:solidFill>
          <a:ln/>
        </p:spPr>
      </p:sp>
      <p:sp>
        <p:nvSpPr>
          <p:cNvPr id="32" name="Text 30"/>
          <p:cNvSpPr/>
          <p:nvPr/>
        </p:nvSpPr>
        <p:spPr>
          <a:xfrm>
            <a:off x="274320" y="4864608"/>
            <a:ext cx="8595360" cy="237744"/>
          </a:xfrm>
          <a:prstGeom prst="rect">
            <a:avLst/>
          </a:prstGeom>
          <a:noFill/>
          <a:ln/>
        </p:spPr>
        <p:txBody>
          <a:bodyPr wrap="square" rtlCol="0" anchor="ctr"/>
          <a:lstStyle/>
          <a:p>
            <a:pPr algn="ctr" indent="0" marL="0">
              <a:buNone/>
            </a:pPr>
            <a:r>
              <a:rPr lang="en-US" sz="750" dirty="0">
                <a:solidFill>
                  <a:srgbClr val="97BC62"/>
                </a:solidFill>
                <a:latin typeface="Calibri" pitchFamily="34" charset="0"/>
                <a:ea typeface="Calibri" pitchFamily="34" charset="-122"/>
                <a:cs typeface="Calibri" pitchFamily="34" charset="-120"/>
              </a:rPr>
              <a:t>Himanshu Rai  |  Roll XW013-25  |  EMBA 2025 Winter  |  IIM Ranchi  |  ENT + WAI Project  |  Data: NEPRA BRSR + GHG Reports FY2022-23</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F2"/>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07B39"/>
          </a:solidFill>
          <a:ln/>
        </p:spPr>
      </p:sp>
      <p:sp>
        <p:nvSpPr>
          <p:cNvPr id="3" name="Text 1"/>
          <p:cNvSpPr/>
          <p:nvPr/>
        </p:nvSpPr>
        <p:spPr>
          <a:xfrm>
            <a:off x="365760" y="91440"/>
            <a:ext cx="8412480" cy="438912"/>
          </a:xfrm>
          <a:prstGeom prst="rect">
            <a:avLst/>
          </a:prstGeom>
          <a:noFill/>
          <a:ln/>
        </p:spPr>
        <p:txBody>
          <a:bodyPr wrap="square" rtlCol="0" anchor="ctr"/>
          <a:lstStyle/>
          <a:p>
            <a:pPr indent="0" marL="0">
              <a:buNone/>
            </a:pPr>
            <a:r>
              <a:rPr lang="en-US" sz="1550" b="1" dirty="0">
                <a:solidFill>
                  <a:srgbClr val="FFFFFF"/>
                </a:solidFill>
                <a:latin typeface="Georgia" pitchFamily="34" charset="0"/>
                <a:ea typeface="Georgia" pitchFamily="34" charset="-122"/>
                <a:cs typeface="Georgia" pitchFamily="34" charset="-120"/>
              </a:rPr>
              <a:t>PROBLEM 1  —  WEIGHING FRAUD, PAYMENT EXPLOITATION &amp; SUPPLY CHAIN INSTABILITY</a:t>
            </a:r>
            <a:endParaRPr lang="en-US" sz="1550" dirty="0"/>
          </a:p>
        </p:txBody>
      </p:sp>
      <p:sp>
        <p:nvSpPr>
          <p:cNvPr id="4" name="Shape 2"/>
          <p:cNvSpPr/>
          <p:nvPr/>
        </p:nvSpPr>
        <p:spPr>
          <a:xfrm>
            <a:off x="256032" y="713232"/>
            <a:ext cx="8631936" cy="987552"/>
          </a:xfrm>
          <a:prstGeom prst="rect">
            <a:avLst/>
          </a:prstGeom>
          <a:solidFill>
            <a:srgbClr val="FFF0E0"/>
          </a:solidFill>
          <a:ln/>
          <a:effectLst>
            <a:outerShdw sx="100000" sy="100000" kx="0" ky="0" algn="bl" rotWithShape="0" blurRad="63500" dist="25400" dir="8100000">
              <a:srgbClr val="000000">
                <a:alpha val="10000"/>
              </a:srgbClr>
            </a:outerShdw>
          </a:effectLst>
        </p:spPr>
      </p:sp>
      <p:sp>
        <p:nvSpPr>
          <p:cNvPr id="5" name="Shape 3"/>
          <p:cNvSpPr/>
          <p:nvPr/>
        </p:nvSpPr>
        <p:spPr>
          <a:xfrm>
            <a:off x="256032" y="713232"/>
            <a:ext cx="64008" cy="987552"/>
          </a:xfrm>
          <a:prstGeom prst="rect">
            <a:avLst/>
          </a:prstGeom>
          <a:solidFill>
            <a:srgbClr val="E07B39"/>
          </a:solidFill>
          <a:ln/>
        </p:spPr>
      </p:sp>
      <p:sp>
        <p:nvSpPr>
          <p:cNvPr id="6" name="Text 4"/>
          <p:cNvSpPr/>
          <p:nvPr/>
        </p:nvSpPr>
        <p:spPr>
          <a:xfrm>
            <a:off x="438912" y="786384"/>
            <a:ext cx="8321040" cy="585216"/>
          </a:xfrm>
          <a:prstGeom prst="rect">
            <a:avLst/>
          </a:prstGeom>
          <a:noFill/>
          <a:ln/>
        </p:spPr>
        <p:txBody>
          <a:bodyPr wrap="square" rtlCol="0" anchor="ctr"/>
          <a:lstStyle/>
          <a:p>
            <a:pPr indent="0" marL="0">
              <a:buNone/>
            </a:pPr>
            <a:r>
              <a:rPr lang="en-US" sz="1400" b="1" i="1" dirty="0">
                <a:solidFill>
                  <a:srgbClr val="2D3748"/>
                </a:solidFill>
                <a:latin typeface="Calibri" pitchFamily="34" charset="0"/>
                <a:ea typeface="Calibri" pitchFamily="34" charset="-122"/>
                <a:cs typeface="Calibri" pitchFamily="34" charset="-120"/>
              </a:rPr>
              <a:t>“Waste pickers are frequently exploited by buyers who tamper with weighing systems, leading to unfairly low prices, and are often unreliable with payment.”</a:t>
            </a:r>
            <a:endParaRPr lang="en-US" sz="1400" dirty="0"/>
          </a:p>
        </p:txBody>
      </p:sp>
      <p:sp>
        <p:nvSpPr>
          <p:cNvPr id="7" name="Text 5"/>
          <p:cNvSpPr/>
          <p:nvPr/>
        </p:nvSpPr>
        <p:spPr>
          <a:xfrm>
            <a:off x="438912" y="1499616"/>
            <a:ext cx="832104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British International Investment (BII) Case Study, 2022  —  Primary source evidence (NEPRA investor documentation)</a:t>
            </a:r>
            <a:endParaRPr lang="en-US" sz="900" dirty="0"/>
          </a:p>
        </p:txBody>
      </p:sp>
      <p:sp>
        <p:nvSpPr>
          <p:cNvPr id="8" name="Shape 6"/>
          <p:cNvSpPr/>
          <p:nvPr/>
        </p:nvSpPr>
        <p:spPr>
          <a:xfrm>
            <a:off x="256032" y="1847088"/>
            <a:ext cx="2816352" cy="2798064"/>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9" name="Shape 7"/>
          <p:cNvSpPr/>
          <p:nvPr/>
        </p:nvSpPr>
        <p:spPr>
          <a:xfrm>
            <a:off x="256032" y="1847088"/>
            <a:ext cx="64008" cy="2798064"/>
          </a:xfrm>
          <a:prstGeom prst="rect">
            <a:avLst/>
          </a:prstGeom>
          <a:solidFill>
            <a:srgbClr val="E07B39"/>
          </a:solidFill>
          <a:ln/>
        </p:spPr>
      </p:sp>
      <p:sp>
        <p:nvSpPr>
          <p:cNvPr id="10" name="Text 8"/>
          <p:cNvSpPr/>
          <p:nvPr/>
        </p:nvSpPr>
        <p:spPr>
          <a:xfrm>
            <a:off x="420624" y="1911096"/>
            <a:ext cx="2578608" cy="329184"/>
          </a:xfrm>
          <a:prstGeom prst="rect">
            <a:avLst/>
          </a:prstGeom>
          <a:noFill/>
          <a:ln/>
        </p:spPr>
        <p:txBody>
          <a:bodyPr wrap="square" rtlCol="0" anchor="ctr"/>
          <a:lstStyle/>
          <a:p>
            <a:pPr indent="0" marL="0">
              <a:buNone/>
            </a:pPr>
            <a:r>
              <a:rPr lang="en-US" sz="1100" b="1" dirty="0">
                <a:solidFill>
                  <a:srgbClr val="E07B39"/>
                </a:solidFill>
                <a:latin typeface="Calibri" pitchFamily="34" charset="0"/>
                <a:ea typeface="Calibri" pitchFamily="34" charset="-122"/>
                <a:cs typeface="Calibri" pitchFamily="34" charset="-120"/>
              </a:rPr>
              <a:t>Supply Instability</a:t>
            </a:r>
            <a:endParaRPr lang="en-US" sz="1100" dirty="0"/>
          </a:p>
        </p:txBody>
      </p:sp>
      <p:sp>
        <p:nvSpPr>
          <p:cNvPr id="11" name="Text 9"/>
          <p:cNvSpPr/>
          <p:nvPr/>
        </p:nvSpPr>
        <p:spPr>
          <a:xfrm>
            <a:off x="420624" y="2267712"/>
            <a:ext cx="2578608" cy="2286000"/>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Pickers moved between buyers unpredictably. No loyalty possible. NEPRA could not build a stable material supply base or plan MRF staffing.</a:t>
            </a:r>
            <a:endParaRPr lang="en-US" sz="1050" dirty="0"/>
          </a:p>
        </p:txBody>
      </p:sp>
      <p:sp>
        <p:nvSpPr>
          <p:cNvPr id="12" name="Shape 10"/>
          <p:cNvSpPr/>
          <p:nvPr/>
        </p:nvSpPr>
        <p:spPr>
          <a:xfrm>
            <a:off x="3182112" y="1847088"/>
            <a:ext cx="2816352" cy="2798064"/>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3" name="Shape 11"/>
          <p:cNvSpPr/>
          <p:nvPr/>
        </p:nvSpPr>
        <p:spPr>
          <a:xfrm>
            <a:off x="3182112" y="1847088"/>
            <a:ext cx="64008" cy="2798064"/>
          </a:xfrm>
          <a:prstGeom prst="rect">
            <a:avLst/>
          </a:prstGeom>
          <a:solidFill>
            <a:srgbClr val="E07B39"/>
          </a:solidFill>
          <a:ln/>
        </p:spPr>
      </p:sp>
      <p:sp>
        <p:nvSpPr>
          <p:cNvPr id="14" name="Text 12"/>
          <p:cNvSpPr/>
          <p:nvPr/>
        </p:nvSpPr>
        <p:spPr>
          <a:xfrm>
            <a:off x="3346704" y="1911096"/>
            <a:ext cx="2578608" cy="329184"/>
          </a:xfrm>
          <a:prstGeom prst="rect">
            <a:avLst/>
          </a:prstGeom>
          <a:noFill/>
          <a:ln/>
        </p:spPr>
        <p:txBody>
          <a:bodyPr wrap="square" rtlCol="0" anchor="ctr"/>
          <a:lstStyle/>
          <a:p>
            <a:pPr indent="0" marL="0">
              <a:buNone/>
            </a:pPr>
            <a:r>
              <a:rPr lang="en-US" sz="1100" b="1" dirty="0">
                <a:solidFill>
                  <a:srgbClr val="E07B39"/>
                </a:solidFill>
                <a:latin typeface="Calibri" pitchFamily="34" charset="0"/>
                <a:ea typeface="Calibri" pitchFamily="34" charset="-122"/>
                <a:cs typeface="Calibri" pitchFamily="34" charset="-120"/>
              </a:rPr>
              <a:t>No Audit Trail</a:t>
            </a:r>
            <a:endParaRPr lang="en-US" sz="1100" dirty="0"/>
          </a:p>
        </p:txBody>
      </p:sp>
      <p:sp>
        <p:nvSpPr>
          <p:cNvPr id="15" name="Text 13"/>
          <p:cNvSpPr/>
          <p:nvPr/>
        </p:nvSpPr>
        <p:spPr>
          <a:xfrm>
            <a:off x="3346704" y="2267712"/>
            <a:ext cx="2578608" cy="2286000"/>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Without verified weight records, NEPRA could not issue traceable recycling certificates, blocking institutional contracts with ULBs and corporates.</a:t>
            </a:r>
            <a:endParaRPr lang="en-US" sz="1050" dirty="0"/>
          </a:p>
        </p:txBody>
      </p:sp>
      <p:sp>
        <p:nvSpPr>
          <p:cNvPr id="16" name="Shape 14"/>
          <p:cNvSpPr/>
          <p:nvPr/>
        </p:nvSpPr>
        <p:spPr>
          <a:xfrm>
            <a:off x="6108192" y="1847088"/>
            <a:ext cx="2816352" cy="2798064"/>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7" name="Shape 15"/>
          <p:cNvSpPr/>
          <p:nvPr/>
        </p:nvSpPr>
        <p:spPr>
          <a:xfrm>
            <a:off x="6108192" y="1847088"/>
            <a:ext cx="64008" cy="2798064"/>
          </a:xfrm>
          <a:prstGeom prst="rect">
            <a:avLst/>
          </a:prstGeom>
          <a:solidFill>
            <a:srgbClr val="E07B39"/>
          </a:solidFill>
          <a:ln/>
        </p:spPr>
      </p:sp>
      <p:sp>
        <p:nvSpPr>
          <p:cNvPr id="18" name="Text 16"/>
          <p:cNvSpPr/>
          <p:nvPr/>
        </p:nvSpPr>
        <p:spPr>
          <a:xfrm>
            <a:off x="6272784" y="1911096"/>
            <a:ext cx="2578608" cy="329184"/>
          </a:xfrm>
          <a:prstGeom prst="rect">
            <a:avLst/>
          </a:prstGeom>
          <a:noFill/>
          <a:ln/>
        </p:spPr>
        <p:txBody>
          <a:bodyPr wrap="square" rtlCol="0" anchor="ctr"/>
          <a:lstStyle/>
          <a:p>
            <a:pPr indent="0" marL="0">
              <a:buNone/>
            </a:pPr>
            <a:r>
              <a:rPr lang="en-US" sz="1100" b="1" dirty="0">
                <a:solidFill>
                  <a:srgbClr val="E07B39"/>
                </a:solidFill>
                <a:latin typeface="Calibri" pitchFamily="34" charset="0"/>
                <a:ea typeface="Calibri" pitchFamily="34" charset="-122"/>
                <a:cs typeface="Calibri" pitchFamily="34" charset="-120"/>
              </a:rPr>
              <a:t>Scale Ceiling</a:t>
            </a:r>
            <a:endParaRPr lang="en-US" sz="1100" dirty="0"/>
          </a:p>
        </p:txBody>
      </p:sp>
      <p:sp>
        <p:nvSpPr>
          <p:cNvPr id="19" name="Text 17"/>
          <p:cNvSpPr/>
          <p:nvPr/>
        </p:nvSpPr>
        <p:spPr>
          <a:xfrm>
            <a:off x="6272784" y="2267712"/>
            <a:ext cx="2578608" cy="2286000"/>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Capacity stuck at ~22 TPD in early years. IFC confirms only 100 TPD by 2017 — five years into operations. Exploitation was the binding constraint.</a:t>
            </a:r>
            <a:endParaRPr lang="en-US" sz="1050" dirty="0"/>
          </a:p>
        </p:txBody>
      </p:sp>
      <p:sp>
        <p:nvSpPr>
          <p:cNvPr id="20" name="Shape 18"/>
          <p:cNvSpPr/>
          <p:nvPr/>
        </p:nvSpPr>
        <p:spPr>
          <a:xfrm>
            <a:off x="256032" y="4709160"/>
            <a:ext cx="8631936" cy="164592"/>
          </a:xfrm>
          <a:prstGeom prst="rect">
            <a:avLst/>
          </a:prstGeom>
          <a:solidFill>
            <a:srgbClr val="D6EAD7"/>
          </a:solidFill>
          <a:ln/>
        </p:spPr>
      </p:sp>
      <p:sp>
        <p:nvSpPr>
          <p:cNvPr id="21" name="Text 19"/>
          <p:cNvSpPr/>
          <p:nvPr/>
        </p:nvSpPr>
        <p:spPr>
          <a:xfrm>
            <a:off x="310896" y="4718304"/>
            <a:ext cx="8503920" cy="146304"/>
          </a:xfrm>
          <a:prstGeom prst="rect">
            <a:avLst/>
          </a:prstGeom>
          <a:noFill/>
          <a:ln/>
        </p:spPr>
        <p:txBody>
          <a:bodyPr wrap="square" rtlCol="0" anchor="ctr"/>
          <a:lstStyle/>
          <a:p>
            <a:pPr indent="0" marL="0">
              <a:buNone/>
            </a:pPr>
            <a:r>
              <a:rPr lang="en-US" sz="750" i="1" dirty="0">
                <a:solidFill>
                  <a:srgbClr val="1B3A1C"/>
                </a:solidFill>
                <a:latin typeface="Calibri" pitchFamily="34" charset="0"/>
                <a:ea typeface="Calibri" pitchFamily="34" charset="-122"/>
                <a:cs typeface="Calibri" pitchFamily="34" charset="-120"/>
              </a:rPr>
              <a:t>Source: BII Case Study 2022 (bii.co.uk)  |  IFC Case Study 2023 (ifc.org)  |  AIM2Flourish, Sandeep Patel, 2019</a:t>
            </a:r>
            <a:endParaRPr lang="en-US" sz="750" dirty="0"/>
          </a:p>
        </p:txBody>
      </p:sp>
      <p:sp>
        <p:nvSpPr>
          <p:cNvPr id="22" name="Shape 20"/>
          <p:cNvSpPr/>
          <p:nvPr/>
        </p:nvSpPr>
        <p:spPr>
          <a:xfrm>
            <a:off x="0" y="4846320"/>
            <a:ext cx="9144000" cy="292608"/>
          </a:xfrm>
          <a:prstGeom prst="rect">
            <a:avLst/>
          </a:prstGeom>
          <a:solidFill>
            <a:srgbClr val="1B3A1C"/>
          </a:solidFill>
          <a:ln/>
        </p:spPr>
      </p:sp>
      <p:sp>
        <p:nvSpPr>
          <p:cNvPr id="23" name="Text 21"/>
          <p:cNvSpPr/>
          <p:nvPr/>
        </p:nvSpPr>
        <p:spPr>
          <a:xfrm>
            <a:off x="274320" y="4864608"/>
            <a:ext cx="8595360" cy="237744"/>
          </a:xfrm>
          <a:prstGeom prst="rect">
            <a:avLst/>
          </a:prstGeom>
          <a:noFill/>
          <a:ln/>
        </p:spPr>
        <p:txBody>
          <a:bodyPr wrap="square" rtlCol="0" anchor="ctr"/>
          <a:lstStyle/>
          <a:p>
            <a:pPr algn="ctr" indent="0" marL="0">
              <a:buNone/>
            </a:pPr>
            <a:r>
              <a:rPr lang="en-US" sz="750" dirty="0">
                <a:solidFill>
                  <a:srgbClr val="97BC62"/>
                </a:solidFill>
                <a:latin typeface="Calibri" pitchFamily="34" charset="0"/>
                <a:ea typeface="Calibri" pitchFamily="34" charset="-122"/>
                <a:cs typeface="Calibri" pitchFamily="34" charset="-120"/>
              </a:rPr>
              <a:t>Himanshu Rai  |  Roll XW013-25  |  EMBA 2025 Winter  |  IIM Ranchi  |  ENT + WAI Project  |  Data: NEPRA BRSR + GHG Reports FY2022-23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3"/>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2C5F2D"/>
          </a:solidFill>
          <a:ln/>
        </p:spPr>
      </p:sp>
      <p:sp>
        <p:nvSpPr>
          <p:cNvPr id="3" name="Text 1"/>
          <p:cNvSpPr/>
          <p:nvPr/>
        </p:nvSpPr>
        <p:spPr>
          <a:xfrm>
            <a:off x="365760" y="91440"/>
            <a:ext cx="8412480" cy="45720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PROBLEM 1 SOLUTION  —  LR TECHNOLOGY ECOSYSTEM (AI-Backed)</a:t>
            </a:r>
            <a:endParaRPr lang="en-US" sz="1700" dirty="0"/>
          </a:p>
        </p:txBody>
      </p:sp>
      <p:sp>
        <p:nvSpPr>
          <p:cNvPr id="4" name="Shape 2"/>
          <p:cNvSpPr/>
          <p:nvPr/>
        </p:nvSpPr>
        <p:spPr>
          <a:xfrm>
            <a:off x="246888" y="749808"/>
            <a:ext cx="2788920" cy="16459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5" name="Shape 3"/>
          <p:cNvSpPr/>
          <p:nvPr/>
        </p:nvSpPr>
        <p:spPr>
          <a:xfrm>
            <a:off x="246888" y="749808"/>
            <a:ext cx="2788920" cy="457200"/>
          </a:xfrm>
          <a:prstGeom prst="rect">
            <a:avLst/>
          </a:prstGeom>
          <a:solidFill>
            <a:srgbClr val="2C5F2D"/>
          </a:solidFill>
          <a:ln/>
        </p:spPr>
      </p:sp>
      <p:sp>
        <p:nvSpPr>
          <p:cNvPr id="6" name="Text 4"/>
          <p:cNvSpPr/>
          <p:nvPr/>
        </p:nvSpPr>
        <p:spPr>
          <a:xfrm>
            <a:off x="356616" y="786384"/>
            <a:ext cx="2578608"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LR Collection App</a:t>
            </a:r>
            <a:endParaRPr lang="en-US" sz="1150" dirty="0"/>
          </a:p>
          <a:p>
            <a:pPr indent="0" marL="0">
              <a:buNone/>
            </a:pPr>
            <a:r>
              <a:rPr lang="en-US" sz="1150" b="1" dirty="0">
                <a:solidFill>
                  <a:srgbClr val="FFFFFF"/>
                </a:solidFill>
                <a:latin typeface="Calibri" pitchFamily="34" charset="0"/>
                <a:ea typeface="Calibri" pitchFamily="34" charset="-122"/>
                <a:cs typeface="Calibri" pitchFamily="34" charset="-120"/>
              </a:rPr>
              <a:t>+ Digital Weighing</a:t>
            </a:r>
            <a:endParaRPr lang="en-US" sz="1150" dirty="0"/>
          </a:p>
        </p:txBody>
      </p:sp>
      <p:sp>
        <p:nvSpPr>
          <p:cNvPr id="7" name="Text 5"/>
          <p:cNvSpPr/>
          <p:nvPr/>
        </p:nvSpPr>
        <p:spPr>
          <a:xfrm>
            <a:off x="356616" y="1243584"/>
            <a:ext cx="2578608" cy="1060704"/>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Scale-linked app — weight from calibrated scale enters ERP directly. No manual entry possible. Fraud structurally eliminated.</a:t>
            </a:r>
            <a:endParaRPr lang="en-US" sz="1050" dirty="0"/>
          </a:p>
        </p:txBody>
      </p:sp>
      <p:sp>
        <p:nvSpPr>
          <p:cNvPr id="8" name="Shape 6"/>
          <p:cNvSpPr/>
          <p:nvPr/>
        </p:nvSpPr>
        <p:spPr>
          <a:xfrm>
            <a:off x="3127248" y="749808"/>
            <a:ext cx="2788920" cy="16459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9" name="Shape 7"/>
          <p:cNvSpPr/>
          <p:nvPr/>
        </p:nvSpPr>
        <p:spPr>
          <a:xfrm>
            <a:off x="3127248" y="749808"/>
            <a:ext cx="2788920" cy="457200"/>
          </a:xfrm>
          <a:prstGeom prst="rect">
            <a:avLst/>
          </a:prstGeom>
          <a:solidFill>
            <a:srgbClr val="2C5F2D"/>
          </a:solidFill>
          <a:ln/>
        </p:spPr>
      </p:sp>
      <p:sp>
        <p:nvSpPr>
          <p:cNvPr id="10" name="Text 8"/>
          <p:cNvSpPr/>
          <p:nvPr/>
        </p:nvSpPr>
        <p:spPr>
          <a:xfrm>
            <a:off x="3236976" y="786384"/>
            <a:ext cx="2578608"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Facial Recognition</a:t>
            </a:r>
            <a:endParaRPr lang="en-US" sz="1150" dirty="0"/>
          </a:p>
          <a:p>
            <a:pPr indent="0" marL="0">
              <a:buNone/>
            </a:pPr>
            <a:r>
              <a:rPr lang="en-US" sz="1150" b="1" dirty="0">
                <a:solidFill>
                  <a:srgbClr val="FFFFFF"/>
                </a:solidFill>
                <a:latin typeface="Calibri" pitchFamily="34" charset="0"/>
                <a:ea typeface="Calibri" pitchFamily="34" charset="-122"/>
                <a:cs typeface="Calibri" pitchFamily="34" charset="-120"/>
              </a:rPr>
              <a:t>(Biometric ID)</a:t>
            </a:r>
            <a:endParaRPr lang="en-US" sz="1150" dirty="0"/>
          </a:p>
        </p:txBody>
      </p:sp>
      <p:sp>
        <p:nvSpPr>
          <p:cNvPr id="11" name="Text 9"/>
          <p:cNvSpPr/>
          <p:nvPr/>
        </p:nvSpPr>
        <p:spPr>
          <a:xfrm>
            <a:off x="3236976" y="1243584"/>
            <a:ext cx="2578608" cy="1060704"/>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Each transaction requires picker face scan. Ghost record fraud eliminated. First waste management deployment of biometrics in India.</a:t>
            </a:r>
            <a:endParaRPr lang="en-US" sz="1050" dirty="0"/>
          </a:p>
        </p:txBody>
      </p:sp>
      <p:sp>
        <p:nvSpPr>
          <p:cNvPr id="12" name="Shape 10"/>
          <p:cNvSpPr/>
          <p:nvPr/>
        </p:nvSpPr>
        <p:spPr>
          <a:xfrm>
            <a:off x="6007608" y="749808"/>
            <a:ext cx="2788920" cy="16459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3" name="Shape 11"/>
          <p:cNvSpPr/>
          <p:nvPr/>
        </p:nvSpPr>
        <p:spPr>
          <a:xfrm>
            <a:off x="6007608" y="749808"/>
            <a:ext cx="2788920" cy="457200"/>
          </a:xfrm>
          <a:prstGeom prst="rect">
            <a:avLst/>
          </a:prstGeom>
          <a:solidFill>
            <a:srgbClr val="2C5F2D"/>
          </a:solidFill>
          <a:ln/>
        </p:spPr>
      </p:sp>
      <p:sp>
        <p:nvSpPr>
          <p:cNvPr id="14" name="Text 12"/>
          <p:cNvSpPr/>
          <p:nvPr/>
        </p:nvSpPr>
        <p:spPr>
          <a:xfrm>
            <a:off x="6117336" y="786384"/>
            <a:ext cx="2578608"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Instant Digital</a:t>
            </a:r>
            <a:endParaRPr lang="en-US" sz="1150" dirty="0"/>
          </a:p>
          <a:p>
            <a:pPr indent="0" marL="0">
              <a:buNone/>
            </a:pPr>
            <a:r>
              <a:rPr lang="en-US" sz="1150" b="1" dirty="0">
                <a:solidFill>
                  <a:srgbClr val="FFFFFF"/>
                </a:solidFill>
                <a:latin typeface="Calibri" pitchFamily="34" charset="0"/>
                <a:ea typeface="Calibri" pitchFamily="34" charset="-122"/>
                <a:cs typeface="Calibri" pitchFamily="34" charset="-120"/>
              </a:rPr>
              <a:t>Payment</a:t>
            </a:r>
            <a:endParaRPr lang="en-US" sz="1150" dirty="0"/>
          </a:p>
        </p:txBody>
      </p:sp>
      <p:sp>
        <p:nvSpPr>
          <p:cNvPr id="15" name="Text 13"/>
          <p:cNvSpPr/>
          <p:nvPr/>
        </p:nvSpPr>
        <p:spPr>
          <a:xfrm>
            <a:off x="6117336" y="1243584"/>
            <a:ext cx="2578608" cy="1060704"/>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Payment before van leaves the site. IFC 2023: this reliability drove 10× picker network growth since 2013.</a:t>
            </a:r>
            <a:endParaRPr lang="en-US" sz="1050" dirty="0"/>
          </a:p>
        </p:txBody>
      </p:sp>
      <p:sp>
        <p:nvSpPr>
          <p:cNvPr id="16" name="Shape 14"/>
          <p:cNvSpPr/>
          <p:nvPr/>
        </p:nvSpPr>
        <p:spPr>
          <a:xfrm>
            <a:off x="246888" y="2542032"/>
            <a:ext cx="2788920" cy="16459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7" name="Shape 15"/>
          <p:cNvSpPr/>
          <p:nvPr/>
        </p:nvSpPr>
        <p:spPr>
          <a:xfrm>
            <a:off x="246888" y="2542032"/>
            <a:ext cx="2788920" cy="457200"/>
          </a:xfrm>
          <a:prstGeom prst="rect">
            <a:avLst/>
          </a:prstGeom>
          <a:solidFill>
            <a:srgbClr val="2C5F2D"/>
          </a:solidFill>
          <a:ln/>
        </p:spPr>
      </p:sp>
      <p:sp>
        <p:nvSpPr>
          <p:cNvPr id="18" name="Text 16"/>
          <p:cNvSpPr/>
          <p:nvPr/>
        </p:nvSpPr>
        <p:spPr>
          <a:xfrm>
            <a:off x="356616" y="2578608"/>
            <a:ext cx="2578608"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GPS Route</a:t>
            </a:r>
            <a:endParaRPr lang="en-US" sz="1150" dirty="0"/>
          </a:p>
          <a:p>
            <a:pPr indent="0" marL="0">
              <a:buNone/>
            </a:pPr>
            <a:r>
              <a:rPr lang="en-US" sz="1150" b="1" dirty="0">
                <a:solidFill>
                  <a:srgbClr val="FFFFFF"/>
                </a:solidFill>
                <a:latin typeface="Calibri" pitchFamily="34" charset="0"/>
                <a:ea typeface="Calibri" pitchFamily="34" charset="-122"/>
                <a:cs typeface="Calibri" pitchFamily="34" charset="-120"/>
              </a:rPr>
              <a:t>Optimisation</a:t>
            </a:r>
            <a:endParaRPr lang="en-US" sz="1150" dirty="0"/>
          </a:p>
        </p:txBody>
      </p:sp>
      <p:sp>
        <p:nvSpPr>
          <p:cNvPr id="19" name="Text 17"/>
          <p:cNvSpPr/>
          <p:nvPr/>
        </p:nvSpPr>
        <p:spPr>
          <a:xfrm>
            <a:off x="356616" y="3035808"/>
            <a:ext cx="2578608" cy="1060704"/>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Max 400m travel for Gujarat pickers [IFC 2023]. Collection costs reduced 33% from 2013 to 2018 [AIM2Flourish].</a:t>
            </a:r>
            <a:endParaRPr lang="en-US" sz="1050" dirty="0"/>
          </a:p>
        </p:txBody>
      </p:sp>
      <p:sp>
        <p:nvSpPr>
          <p:cNvPr id="20" name="Shape 18"/>
          <p:cNvSpPr/>
          <p:nvPr/>
        </p:nvSpPr>
        <p:spPr>
          <a:xfrm>
            <a:off x="3127248" y="2542032"/>
            <a:ext cx="2788920" cy="16459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1" name="Shape 19"/>
          <p:cNvSpPr/>
          <p:nvPr/>
        </p:nvSpPr>
        <p:spPr>
          <a:xfrm>
            <a:off x="3127248" y="2542032"/>
            <a:ext cx="2788920" cy="457200"/>
          </a:xfrm>
          <a:prstGeom prst="rect">
            <a:avLst/>
          </a:prstGeom>
          <a:solidFill>
            <a:srgbClr val="2C5F2D"/>
          </a:solidFill>
          <a:ln/>
        </p:spPr>
      </p:sp>
      <p:sp>
        <p:nvSpPr>
          <p:cNvPr id="22" name="Text 20"/>
          <p:cNvSpPr/>
          <p:nvPr/>
        </p:nvSpPr>
        <p:spPr>
          <a:xfrm>
            <a:off x="3236976" y="2578608"/>
            <a:ext cx="2578608"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Demand Forecasting</a:t>
            </a:r>
            <a:endParaRPr lang="en-US" sz="1150" dirty="0"/>
          </a:p>
          <a:p>
            <a:pPr indent="0" marL="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p>
        </p:txBody>
      </p:sp>
      <p:sp>
        <p:nvSpPr>
          <p:cNvPr id="23" name="Text 21"/>
          <p:cNvSpPr/>
          <p:nvPr/>
        </p:nvSpPr>
        <p:spPr>
          <a:xfrm>
            <a:off x="3236976" y="3035808"/>
            <a:ext cx="2578608" cy="1060704"/>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4–6 week material availability forecast. Enables advance recycler contract negotiation. Converts supply stability into commercial advantage.</a:t>
            </a:r>
            <a:endParaRPr lang="en-US" sz="1050" dirty="0"/>
          </a:p>
        </p:txBody>
      </p:sp>
      <p:sp>
        <p:nvSpPr>
          <p:cNvPr id="24" name="Shape 22"/>
          <p:cNvSpPr/>
          <p:nvPr/>
        </p:nvSpPr>
        <p:spPr>
          <a:xfrm>
            <a:off x="6007608" y="2542032"/>
            <a:ext cx="2788920" cy="16459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5" name="Shape 23"/>
          <p:cNvSpPr/>
          <p:nvPr/>
        </p:nvSpPr>
        <p:spPr>
          <a:xfrm>
            <a:off x="6007608" y="2542032"/>
            <a:ext cx="2788920" cy="457200"/>
          </a:xfrm>
          <a:prstGeom prst="rect">
            <a:avLst/>
          </a:prstGeom>
          <a:solidFill>
            <a:srgbClr val="028090"/>
          </a:solidFill>
          <a:ln/>
        </p:spPr>
      </p:sp>
      <p:sp>
        <p:nvSpPr>
          <p:cNvPr id="26" name="Text 24"/>
          <p:cNvSpPr/>
          <p:nvPr/>
        </p:nvSpPr>
        <p:spPr>
          <a:xfrm>
            <a:off x="6117336" y="2578608"/>
            <a:ext cx="2578608"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RESULT (FY23)</a:t>
            </a:r>
            <a:endParaRPr lang="en-US" sz="1150" dirty="0"/>
          </a:p>
        </p:txBody>
      </p:sp>
      <p:sp>
        <p:nvSpPr>
          <p:cNvPr id="27" name="Text 25"/>
          <p:cNvSpPr/>
          <p:nvPr/>
        </p:nvSpPr>
        <p:spPr>
          <a:xfrm>
            <a:off x="6117336" y="3035808"/>
            <a:ext cx="2578608" cy="1060704"/>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1,82,000 MT diverted [BRSR]</a:t>
            </a:r>
            <a:endParaRPr lang="en-US" sz="1050" dirty="0"/>
          </a:p>
          <a:p>
            <a:pPr indent="0" marL="0">
              <a:buNone/>
            </a:pPr>
            <a:r>
              <a:rPr lang="en-US" sz="1050" dirty="0">
                <a:solidFill>
                  <a:srgbClr val="2D3748"/>
                </a:solidFill>
                <a:latin typeface="Calibri" pitchFamily="34" charset="0"/>
                <a:ea typeface="Calibri" pitchFamily="34" charset="-122"/>
                <a:cs typeface="Calibri" pitchFamily="34" charset="-120"/>
              </a:rPr>
              <a:t>700+ TPD capacity [BRSR]</a:t>
            </a:r>
            <a:endParaRPr lang="en-US" sz="1050" dirty="0"/>
          </a:p>
          <a:p>
            <a:pPr indent="0" marL="0">
              <a:buNone/>
            </a:pPr>
            <a:r>
              <a:rPr lang="en-US" sz="1050" dirty="0">
                <a:solidFill>
                  <a:srgbClr val="2D3748"/>
                </a:solidFill>
                <a:latin typeface="Calibri" pitchFamily="34" charset="0"/>
                <a:ea typeface="Calibri" pitchFamily="34" charset="-122"/>
                <a:cs typeface="Calibri" pitchFamily="34" charset="-120"/>
              </a:rPr>
              <a:t>78% pickers: life improved [IFC]</a:t>
            </a:r>
            <a:endParaRPr lang="en-US" sz="1050" dirty="0"/>
          </a:p>
          <a:p>
            <a:pPr indent="0" marL="0">
              <a:buNone/>
            </a:pPr>
            <a:r>
              <a:rPr lang="en-US" sz="1050" dirty="0">
                <a:solidFill>
                  <a:srgbClr val="2D3748"/>
                </a:solidFill>
                <a:latin typeface="Calibri" pitchFamily="34" charset="0"/>
                <a:ea typeface="Calibri" pitchFamily="34" charset="-122"/>
                <a:cs typeface="Calibri" pitchFamily="34" charset="-120"/>
              </a:rPr>
              <a:t>25% income premium [IFC]</a:t>
            </a:r>
            <a:endParaRPr lang="en-US" sz="1050" dirty="0"/>
          </a:p>
        </p:txBody>
      </p:sp>
      <p:sp>
        <p:nvSpPr>
          <p:cNvPr id="28" name="Shape 26"/>
          <p:cNvSpPr/>
          <p:nvPr/>
        </p:nvSpPr>
        <p:spPr>
          <a:xfrm>
            <a:off x="256032" y="4709160"/>
            <a:ext cx="8631936" cy="164592"/>
          </a:xfrm>
          <a:prstGeom prst="rect">
            <a:avLst/>
          </a:prstGeom>
          <a:solidFill>
            <a:srgbClr val="D6EAD7"/>
          </a:solidFill>
          <a:ln/>
        </p:spPr>
      </p:sp>
      <p:sp>
        <p:nvSpPr>
          <p:cNvPr id="29" name="Text 27"/>
          <p:cNvSpPr/>
          <p:nvPr/>
        </p:nvSpPr>
        <p:spPr>
          <a:xfrm>
            <a:off x="310896" y="4718304"/>
            <a:ext cx="8503920" cy="146304"/>
          </a:xfrm>
          <a:prstGeom prst="rect">
            <a:avLst/>
          </a:prstGeom>
          <a:noFill/>
          <a:ln/>
        </p:spPr>
        <p:txBody>
          <a:bodyPr wrap="square" rtlCol="0" anchor="ctr"/>
          <a:lstStyle/>
          <a:p>
            <a:pPr indent="0" marL="0">
              <a:buNone/>
            </a:pPr>
            <a:r>
              <a:rPr lang="en-US" sz="750" i="1" dirty="0">
                <a:solidFill>
                  <a:srgbClr val="1B3A1C"/>
                </a:solidFill>
                <a:latin typeface="Calibri" pitchFamily="34" charset="0"/>
                <a:ea typeface="Calibri" pitchFamily="34" charset="-122"/>
                <a:cs typeface="Calibri" pitchFamily="34" charset="-120"/>
              </a:rPr>
              <a:t>Source: IFC Case Study 2023  |  AIM2Flourish 2019  |  BII 2022  |  NEPRA BRSR FY2022-23</a:t>
            </a:r>
            <a:endParaRPr lang="en-US" sz="750" dirty="0"/>
          </a:p>
        </p:txBody>
      </p:sp>
      <p:sp>
        <p:nvSpPr>
          <p:cNvPr id="30" name="Shape 28"/>
          <p:cNvSpPr/>
          <p:nvPr/>
        </p:nvSpPr>
        <p:spPr>
          <a:xfrm>
            <a:off x="0" y="4846320"/>
            <a:ext cx="9144000" cy="292608"/>
          </a:xfrm>
          <a:prstGeom prst="rect">
            <a:avLst/>
          </a:prstGeom>
          <a:solidFill>
            <a:srgbClr val="1B3A1C"/>
          </a:solidFill>
          <a:ln/>
        </p:spPr>
      </p:sp>
      <p:sp>
        <p:nvSpPr>
          <p:cNvPr id="31" name="Text 29"/>
          <p:cNvSpPr/>
          <p:nvPr/>
        </p:nvSpPr>
        <p:spPr>
          <a:xfrm>
            <a:off x="274320" y="4864608"/>
            <a:ext cx="8595360" cy="237744"/>
          </a:xfrm>
          <a:prstGeom prst="rect">
            <a:avLst/>
          </a:prstGeom>
          <a:noFill/>
          <a:ln/>
        </p:spPr>
        <p:txBody>
          <a:bodyPr wrap="square" rtlCol="0" anchor="ctr"/>
          <a:lstStyle/>
          <a:p>
            <a:pPr algn="ctr" indent="0" marL="0">
              <a:buNone/>
            </a:pPr>
            <a:r>
              <a:rPr lang="en-US" sz="750" dirty="0">
                <a:solidFill>
                  <a:srgbClr val="97BC62"/>
                </a:solidFill>
                <a:latin typeface="Calibri" pitchFamily="34" charset="0"/>
                <a:ea typeface="Calibri" pitchFamily="34" charset="-122"/>
                <a:cs typeface="Calibri" pitchFamily="34" charset="-120"/>
              </a:rPr>
              <a:t>Himanshu Rai  |  Roll XW013-25  |  EMBA 2025 Winter  |  IIM Ranchi  |  ENT + WAI Project  |  Data: NEPRA BRSR + GHG Reports FY2022-23</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7F2"/>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2C5F2D"/>
          </a:solidFill>
          <a:ln/>
        </p:spPr>
      </p:sp>
      <p:sp>
        <p:nvSpPr>
          <p:cNvPr id="3" name="Text 1"/>
          <p:cNvSpPr/>
          <p:nvPr/>
        </p:nvSpPr>
        <p:spPr>
          <a:xfrm>
            <a:off x="365760" y="91440"/>
            <a:ext cx="8412480" cy="45720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PROBLEM 1 — REAL DATA: Growth Trajectory &amp; IFC Picker Survey</a:t>
            </a:r>
            <a:endParaRPr lang="en-US" sz="1700" dirty="0"/>
          </a:p>
        </p:txBody>
      </p:sp>
      <p:pic>
        <p:nvPicPr>
          <p:cNvPr id="4" name="Image 0" descr="preencoded.png">    </p:cNvPr>
          <p:cNvPicPr>
            <a:picLocks noChangeAspect="1"/>
          </p:cNvPicPr>
          <p:nvPr/>
        </p:nvPicPr>
        <p:blipFill>
          <a:blip r:embed="rId1"/>
          <a:stretch>
            <a:fillRect/>
          </a:stretch>
        </p:blipFill>
        <p:spPr>
          <a:xfrm>
            <a:off x="256032" y="694944"/>
            <a:ext cx="5321808" cy="2103120"/>
          </a:xfrm>
          <a:prstGeom prst="rect">
            <a:avLst/>
          </a:prstGeom>
        </p:spPr>
      </p:pic>
      <p:pic>
        <p:nvPicPr>
          <p:cNvPr id="5" name="Image 1" descr="preencoded.png">    </p:cNvPr>
          <p:cNvPicPr>
            <a:picLocks noChangeAspect="1"/>
          </p:cNvPicPr>
          <p:nvPr/>
        </p:nvPicPr>
        <p:blipFill>
          <a:blip r:embed="rId2"/>
          <a:stretch>
            <a:fillRect/>
          </a:stretch>
        </p:blipFill>
        <p:spPr>
          <a:xfrm>
            <a:off x="256032" y="2871216"/>
            <a:ext cx="8631936" cy="1828800"/>
          </a:xfrm>
          <a:prstGeom prst="rect">
            <a:avLst/>
          </a:prstGeom>
        </p:spPr>
      </p:pic>
      <p:sp>
        <p:nvSpPr>
          <p:cNvPr id="6" name="Shape 2"/>
          <p:cNvSpPr/>
          <p:nvPr/>
        </p:nvSpPr>
        <p:spPr>
          <a:xfrm>
            <a:off x="5705856" y="694944"/>
            <a:ext cx="3182112" cy="21031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7" name="Shape 3"/>
          <p:cNvSpPr/>
          <p:nvPr/>
        </p:nvSpPr>
        <p:spPr>
          <a:xfrm>
            <a:off x="5705856" y="694944"/>
            <a:ext cx="3182112" cy="384048"/>
          </a:xfrm>
          <a:prstGeom prst="rect">
            <a:avLst/>
          </a:prstGeom>
          <a:solidFill>
            <a:srgbClr val="028090"/>
          </a:solidFill>
          <a:ln/>
        </p:spPr>
      </p:sp>
      <p:sp>
        <p:nvSpPr>
          <p:cNvPr id="8" name="Text 4"/>
          <p:cNvSpPr/>
          <p:nvPr/>
        </p:nvSpPr>
        <p:spPr>
          <a:xfrm>
            <a:off x="5833872" y="749808"/>
            <a:ext cx="292608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Verified Anchors</a:t>
            </a:r>
            <a:endParaRPr lang="en-US" sz="1100" dirty="0"/>
          </a:p>
        </p:txBody>
      </p:sp>
      <p:sp>
        <p:nvSpPr>
          <p:cNvPr id="9" name="Text 5"/>
          <p:cNvSpPr/>
          <p:nvPr/>
        </p:nvSpPr>
        <p:spPr>
          <a:xfrm>
            <a:off x="5833872" y="1133856"/>
            <a:ext cx="2926080" cy="18288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373 MT (2012)  →  AIM2Flourish</a:t>
            </a:r>
            <a:endParaRPr lang="en-US" sz="950" dirty="0"/>
          </a:p>
        </p:txBody>
      </p:sp>
      <p:sp>
        <p:nvSpPr>
          <p:cNvPr id="10" name="Text 6"/>
          <p:cNvSpPr/>
          <p:nvPr/>
        </p:nvSpPr>
        <p:spPr>
          <a:xfrm>
            <a:off x="5833872" y="1325880"/>
            <a:ext cx="2926080" cy="18288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100 TPD (2017)  →  IFC 2023</a:t>
            </a:r>
            <a:endParaRPr lang="en-US" sz="950" dirty="0"/>
          </a:p>
        </p:txBody>
      </p:sp>
      <p:sp>
        <p:nvSpPr>
          <p:cNvPr id="11" name="Text 7"/>
          <p:cNvSpPr/>
          <p:nvPr/>
        </p:nvSpPr>
        <p:spPr>
          <a:xfrm>
            <a:off x="5833872" y="1517904"/>
            <a:ext cx="2926080" cy="18288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560 TPD (2022)  →  IFC 2023</a:t>
            </a:r>
            <a:endParaRPr lang="en-US" sz="950" dirty="0"/>
          </a:p>
        </p:txBody>
      </p:sp>
      <p:sp>
        <p:nvSpPr>
          <p:cNvPr id="12" name="Text 8"/>
          <p:cNvSpPr/>
          <p:nvPr/>
        </p:nvSpPr>
        <p:spPr>
          <a:xfrm>
            <a:off x="5833872" y="1709928"/>
            <a:ext cx="2926080" cy="18288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1,82,000 MT (FY23)  →  BRSR p.3</a:t>
            </a:r>
            <a:endParaRPr lang="en-US" sz="950" dirty="0"/>
          </a:p>
        </p:txBody>
      </p:sp>
      <p:sp>
        <p:nvSpPr>
          <p:cNvPr id="13" name="Text 9"/>
          <p:cNvSpPr/>
          <p:nvPr/>
        </p:nvSpPr>
        <p:spPr>
          <a:xfrm>
            <a:off x="5833872" y="1901952"/>
            <a:ext cx="2926080" cy="18288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700+ TPD (FY23)  →  BRSR FY23</a:t>
            </a:r>
            <a:endParaRPr lang="en-US" sz="950" dirty="0"/>
          </a:p>
        </p:txBody>
      </p:sp>
      <p:sp>
        <p:nvSpPr>
          <p:cNvPr id="14" name="Text 10"/>
          <p:cNvSpPr/>
          <p:nvPr/>
        </p:nvSpPr>
        <p:spPr>
          <a:xfrm>
            <a:off x="5833872" y="2093976"/>
            <a:ext cx="2926080" cy="18288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78% survey  →  IFC 2021</a:t>
            </a:r>
            <a:endParaRPr lang="en-US" sz="950" dirty="0"/>
          </a:p>
        </p:txBody>
      </p:sp>
      <p:sp>
        <p:nvSpPr>
          <p:cNvPr id="15" name="Text 11"/>
          <p:cNvSpPr/>
          <p:nvPr/>
        </p:nvSpPr>
        <p:spPr>
          <a:xfrm>
            <a:off x="5833872" y="2286000"/>
            <a:ext cx="2926080" cy="18288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25% premium  →  IFC 2023</a:t>
            </a:r>
            <a:endParaRPr lang="en-US" sz="950" dirty="0"/>
          </a:p>
        </p:txBody>
      </p:sp>
      <p:sp>
        <p:nvSpPr>
          <p:cNvPr id="16" name="Text 12"/>
          <p:cNvSpPr/>
          <p:nvPr/>
        </p:nvSpPr>
        <p:spPr>
          <a:xfrm>
            <a:off x="5833872" y="2478024"/>
            <a:ext cx="2926080" cy="182880"/>
          </a:xfrm>
          <a:prstGeom prst="rect">
            <a:avLst/>
          </a:prstGeom>
          <a:noFill/>
          <a:ln/>
        </p:spPr>
        <p:txBody>
          <a:bodyPr wrap="square" rtlCol="0" anchor="ctr"/>
          <a:lstStyle/>
          <a:p>
            <a:pPr indent="0" marL="0">
              <a:buNone/>
            </a:pPr>
            <a:r>
              <a:rPr lang="en-US" sz="950" dirty="0">
                <a:solidFill>
                  <a:srgbClr val="2D3748"/>
                </a:solidFill>
                <a:latin typeface="Calibri" pitchFamily="34" charset="0"/>
                <a:ea typeface="Calibri" pitchFamily="34" charset="-122"/>
                <a:cs typeface="Calibri" pitchFamily="34" charset="-120"/>
              </a:rPr>
              <a:t>20-25% more  →  BII 2022</a:t>
            </a:r>
            <a:endParaRPr lang="en-US" sz="950" dirty="0"/>
          </a:p>
        </p:txBody>
      </p:sp>
      <p:sp>
        <p:nvSpPr>
          <p:cNvPr id="17" name="Text 13"/>
          <p:cNvSpPr/>
          <p:nvPr/>
        </p:nvSpPr>
        <p:spPr>
          <a:xfrm>
            <a:off x="256032" y="4626864"/>
            <a:ext cx="8631936" cy="182880"/>
          </a:xfrm>
          <a:prstGeom prst="rect">
            <a:avLst/>
          </a:prstGeom>
          <a:noFill/>
          <a:ln/>
        </p:spPr>
        <p:txBody>
          <a:bodyPr wrap="square" rtlCol="0" anchor="ctr"/>
          <a:lstStyle/>
          <a:p>
            <a:pPr indent="0" marL="0">
              <a:buNone/>
            </a:pPr>
            <a:r>
              <a:rPr lang="en-US" sz="850" i="1" dirty="0">
                <a:solidFill>
                  <a:srgbClr val="E07B39"/>
                </a:solidFill>
                <a:latin typeface="Calibri" pitchFamily="34" charset="0"/>
                <a:ea typeface="Calibri" pitchFamily="34" charset="-122"/>
                <a:cs typeface="Calibri" pitchFamily="34" charset="-120"/>
              </a:rPr>
              <a:t>⚠ Income trajectory (left panel) is ESTIMATED — anchored to IFC/BII findings — clearly labeled in chart</a:t>
            </a:r>
            <a:endParaRPr lang="en-US" sz="850" dirty="0"/>
          </a:p>
        </p:txBody>
      </p:sp>
      <p:sp>
        <p:nvSpPr>
          <p:cNvPr id="18" name="Shape 14"/>
          <p:cNvSpPr/>
          <p:nvPr/>
        </p:nvSpPr>
        <p:spPr>
          <a:xfrm>
            <a:off x="0" y="4846320"/>
            <a:ext cx="9144000" cy="292608"/>
          </a:xfrm>
          <a:prstGeom prst="rect">
            <a:avLst/>
          </a:prstGeom>
          <a:solidFill>
            <a:srgbClr val="1B3A1C"/>
          </a:solidFill>
          <a:ln/>
        </p:spPr>
      </p:sp>
      <p:sp>
        <p:nvSpPr>
          <p:cNvPr id="19" name="Text 15"/>
          <p:cNvSpPr/>
          <p:nvPr/>
        </p:nvSpPr>
        <p:spPr>
          <a:xfrm>
            <a:off x="274320" y="4864608"/>
            <a:ext cx="8595360" cy="237744"/>
          </a:xfrm>
          <a:prstGeom prst="rect">
            <a:avLst/>
          </a:prstGeom>
          <a:noFill/>
          <a:ln/>
        </p:spPr>
        <p:txBody>
          <a:bodyPr wrap="square" rtlCol="0" anchor="ctr"/>
          <a:lstStyle/>
          <a:p>
            <a:pPr algn="ctr" indent="0" marL="0">
              <a:buNone/>
            </a:pPr>
            <a:r>
              <a:rPr lang="en-US" sz="750" dirty="0">
                <a:solidFill>
                  <a:srgbClr val="97BC62"/>
                </a:solidFill>
                <a:latin typeface="Calibri" pitchFamily="34" charset="0"/>
                <a:ea typeface="Calibri" pitchFamily="34" charset="-122"/>
                <a:cs typeface="Calibri" pitchFamily="34" charset="-120"/>
              </a:rPr>
              <a:t>Himanshu Rai  |  Roll XW013-25  |  EMBA 2025 Winter  |  IIM Ranchi  |  ENT + WAI Project  |  Data: NEPRA BRSR + GHG Reports FY2022-23</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3"/>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2C5F2D"/>
          </a:solidFill>
          <a:ln/>
        </p:spPr>
      </p:sp>
      <p:sp>
        <p:nvSpPr>
          <p:cNvPr id="3" name="Text 1"/>
          <p:cNvSpPr/>
          <p:nvPr/>
        </p:nvSpPr>
        <p:spPr>
          <a:xfrm>
            <a:off x="365760" y="91440"/>
            <a:ext cx="8412480" cy="45720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REAL DATA DEEP DIVE — MRF Capacity, Workforce &amp; Turnover</a:t>
            </a:r>
            <a:endParaRPr lang="en-US" sz="1700" dirty="0"/>
          </a:p>
        </p:txBody>
      </p:sp>
      <p:sp>
        <p:nvSpPr>
          <p:cNvPr id="4" name="Text 2"/>
          <p:cNvSpPr/>
          <p:nvPr/>
        </p:nvSpPr>
        <p:spPr>
          <a:xfrm>
            <a:off x="365760" y="658368"/>
            <a:ext cx="8412480" cy="219456"/>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All figures from official NEPRA disclosures: GHG Report FY2022-23 + BRSR FY2022-23 Tables 20 &amp; 22</a:t>
            </a:r>
            <a:endParaRPr lang="en-US" sz="1000" dirty="0"/>
          </a:p>
        </p:txBody>
      </p:sp>
      <p:pic>
        <p:nvPicPr>
          <p:cNvPr id="5" name="Image 0" descr="preencoded.png">    </p:cNvPr>
          <p:cNvPicPr>
            <a:picLocks noChangeAspect="1"/>
          </p:cNvPicPr>
          <p:nvPr/>
        </p:nvPicPr>
        <p:blipFill>
          <a:blip r:embed="rId1"/>
          <a:stretch>
            <a:fillRect/>
          </a:stretch>
        </p:blipFill>
        <p:spPr>
          <a:xfrm>
            <a:off x="256032" y="896112"/>
            <a:ext cx="8631936" cy="3493008"/>
          </a:xfrm>
          <a:prstGeom prst="rect">
            <a:avLst/>
          </a:prstGeom>
        </p:spPr>
      </p:pic>
      <p:sp>
        <p:nvSpPr>
          <p:cNvPr id="6" name="Shape 3"/>
          <p:cNvSpPr/>
          <p:nvPr/>
        </p:nvSpPr>
        <p:spPr>
          <a:xfrm>
            <a:off x="256032" y="4462272"/>
            <a:ext cx="2066544" cy="329184"/>
          </a:xfrm>
          <a:prstGeom prst="rect">
            <a:avLst/>
          </a:prstGeom>
          <a:solidFill>
            <a:srgbClr val="D6EAD7"/>
          </a:solidFill>
          <a:ln/>
          <a:effectLst>
            <a:outerShdw sx="100000" sy="100000" kx="0" ky="0" algn="bl" rotWithShape="0" blurRad="63500" dist="25400" dir="8100000">
              <a:srgbClr val="000000">
                <a:alpha val="10000"/>
              </a:srgbClr>
            </a:outerShdw>
          </a:effectLst>
        </p:spPr>
      </p:sp>
      <p:sp>
        <p:nvSpPr>
          <p:cNvPr id="7" name="Text 4"/>
          <p:cNvSpPr/>
          <p:nvPr/>
        </p:nvSpPr>
        <p:spPr>
          <a:xfrm>
            <a:off x="292608" y="4480560"/>
            <a:ext cx="1993392" cy="265176"/>
          </a:xfrm>
          <a:prstGeom prst="rect">
            <a:avLst/>
          </a:prstGeom>
          <a:noFill/>
          <a:ln/>
        </p:spPr>
        <p:txBody>
          <a:bodyPr wrap="square" rtlCol="0" anchor="ctr"/>
          <a:lstStyle/>
          <a:p>
            <a:pPr indent="0" marL="0">
              <a:buNone/>
            </a:pPr>
            <a:r>
              <a:rPr lang="en-US" sz="900" b="1" dirty="0">
                <a:solidFill>
                  <a:srgbClr val="1B3A1C"/>
                </a:solidFill>
                <a:latin typeface="Calibri" pitchFamily="34" charset="0"/>
                <a:ea typeface="Calibri" pitchFamily="34" charset="-122"/>
                <a:cs typeface="Calibri" pitchFamily="34" charset="-120"/>
              </a:rPr>
              <a:t>Indore MRF: 300 TPD  [GHG Report FY23]</a:t>
            </a:r>
            <a:endParaRPr lang="en-US" sz="900" dirty="0"/>
          </a:p>
        </p:txBody>
      </p:sp>
      <p:sp>
        <p:nvSpPr>
          <p:cNvPr id="8" name="Shape 5"/>
          <p:cNvSpPr/>
          <p:nvPr/>
        </p:nvSpPr>
        <p:spPr>
          <a:xfrm>
            <a:off x="2432304" y="4462272"/>
            <a:ext cx="2066544" cy="329184"/>
          </a:xfrm>
          <a:prstGeom prst="rect">
            <a:avLst/>
          </a:prstGeom>
          <a:solidFill>
            <a:srgbClr val="D6EAD7"/>
          </a:solidFill>
          <a:ln/>
          <a:effectLst>
            <a:outerShdw sx="100000" sy="100000" kx="0" ky="0" algn="bl" rotWithShape="0" blurRad="63500" dist="25400" dir="8100000">
              <a:srgbClr val="000000">
                <a:alpha val="10000"/>
              </a:srgbClr>
            </a:outerShdw>
          </a:effectLst>
        </p:spPr>
      </p:sp>
      <p:sp>
        <p:nvSpPr>
          <p:cNvPr id="9" name="Text 6"/>
          <p:cNvSpPr/>
          <p:nvPr/>
        </p:nvSpPr>
        <p:spPr>
          <a:xfrm>
            <a:off x="2468880" y="4480560"/>
            <a:ext cx="1993392" cy="265176"/>
          </a:xfrm>
          <a:prstGeom prst="rect">
            <a:avLst/>
          </a:prstGeom>
          <a:noFill/>
          <a:ln/>
        </p:spPr>
        <p:txBody>
          <a:bodyPr wrap="square" rtlCol="0" anchor="ctr"/>
          <a:lstStyle/>
          <a:p>
            <a:pPr indent="0" marL="0">
              <a:buNone/>
            </a:pPr>
            <a:r>
              <a:rPr lang="en-US" sz="900" b="1" dirty="0">
                <a:solidFill>
                  <a:srgbClr val="1B3A1C"/>
                </a:solidFill>
                <a:latin typeface="Calibri" pitchFamily="34" charset="0"/>
                <a:ea typeface="Calibri" pitchFamily="34" charset="-122"/>
                <a:cs typeface="Calibri" pitchFamily="34" charset="-120"/>
              </a:rPr>
              <a:t>Women in MRF: 45.28%  [BRSR Table 20]</a:t>
            </a:r>
            <a:endParaRPr lang="en-US" sz="900" dirty="0"/>
          </a:p>
        </p:txBody>
      </p:sp>
      <p:sp>
        <p:nvSpPr>
          <p:cNvPr id="10" name="Shape 7"/>
          <p:cNvSpPr/>
          <p:nvPr/>
        </p:nvSpPr>
        <p:spPr>
          <a:xfrm>
            <a:off x="4608576" y="4462272"/>
            <a:ext cx="2066544" cy="329184"/>
          </a:xfrm>
          <a:prstGeom prst="rect">
            <a:avLst/>
          </a:prstGeom>
          <a:solidFill>
            <a:srgbClr val="D6EAD7"/>
          </a:solidFill>
          <a:ln/>
          <a:effectLst>
            <a:outerShdw sx="100000" sy="100000" kx="0" ky="0" algn="bl" rotWithShape="0" blurRad="63500" dist="25400" dir="8100000">
              <a:srgbClr val="000000">
                <a:alpha val="10000"/>
              </a:srgbClr>
            </a:outerShdw>
          </a:effectLst>
        </p:spPr>
      </p:sp>
      <p:sp>
        <p:nvSpPr>
          <p:cNvPr id="11" name="Text 8"/>
          <p:cNvSpPr/>
          <p:nvPr/>
        </p:nvSpPr>
        <p:spPr>
          <a:xfrm>
            <a:off x="4645152" y="4480560"/>
            <a:ext cx="1993392" cy="265176"/>
          </a:xfrm>
          <a:prstGeom prst="rect">
            <a:avLst/>
          </a:prstGeom>
          <a:noFill/>
          <a:ln/>
        </p:spPr>
        <p:txBody>
          <a:bodyPr wrap="square" rtlCol="0" anchor="ctr"/>
          <a:lstStyle/>
          <a:p>
            <a:pPr indent="0" marL="0">
              <a:buNone/>
            </a:pPr>
            <a:r>
              <a:rPr lang="en-US" sz="900" b="1" dirty="0">
                <a:solidFill>
                  <a:srgbClr val="1B3A1C"/>
                </a:solidFill>
                <a:latin typeface="Calibri" pitchFamily="34" charset="0"/>
                <a:ea typeface="Calibri" pitchFamily="34" charset="-122"/>
                <a:cs typeface="Calibri" pitchFamily="34" charset="-120"/>
              </a:rPr>
              <a:t>Overall turnover FY23: 24.60%  [BRSR Table 22]</a:t>
            </a:r>
            <a:endParaRPr lang="en-US" sz="900" dirty="0"/>
          </a:p>
        </p:txBody>
      </p:sp>
      <p:sp>
        <p:nvSpPr>
          <p:cNvPr id="12" name="Shape 9"/>
          <p:cNvSpPr/>
          <p:nvPr/>
        </p:nvSpPr>
        <p:spPr>
          <a:xfrm>
            <a:off x="6784848" y="4462272"/>
            <a:ext cx="2066544" cy="329184"/>
          </a:xfrm>
          <a:prstGeom prst="rect">
            <a:avLst/>
          </a:prstGeom>
          <a:solidFill>
            <a:srgbClr val="D6EAD7"/>
          </a:solidFill>
          <a:ln/>
          <a:effectLst>
            <a:outerShdw sx="100000" sy="100000" kx="0" ky="0" algn="bl" rotWithShape="0" blurRad="63500" dist="25400" dir="8100000">
              <a:srgbClr val="000000">
                <a:alpha val="10000"/>
              </a:srgbClr>
            </a:outerShdw>
          </a:effectLst>
        </p:spPr>
      </p:sp>
      <p:sp>
        <p:nvSpPr>
          <p:cNvPr id="13" name="Text 10"/>
          <p:cNvSpPr/>
          <p:nvPr/>
        </p:nvSpPr>
        <p:spPr>
          <a:xfrm>
            <a:off x="6821424" y="4480560"/>
            <a:ext cx="1993392" cy="265176"/>
          </a:xfrm>
          <a:prstGeom prst="rect">
            <a:avLst/>
          </a:prstGeom>
          <a:noFill/>
          <a:ln/>
        </p:spPr>
        <p:txBody>
          <a:bodyPr wrap="square" rtlCol="0" anchor="ctr"/>
          <a:lstStyle/>
          <a:p>
            <a:pPr indent="0" marL="0">
              <a:buNone/>
            </a:pPr>
            <a:r>
              <a:rPr lang="en-US" sz="900" b="1" dirty="0">
                <a:solidFill>
                  <a:srgbClr val="1B3A1C"/>
                </a:solidFill>
                <a:latin typeface="Calibri" pitchFamily="34" charset="0"/>
                <a:ea typeface="Calibri" pitchFamily="34" charset="-122"/>
                <a:cs typeface="Calibri" pitchFamily="34" charset="-120"/>
              </a:rPr>
              <a:t>Female turnover FY23: 45.45%  [BRSR Table 22]</a:t>
            </a:r>
            <a:endParaRPr lang="en-US" sz="900" dirty="0"/>
          </a:p>
        </p:txBody>
      </p:sp>
      <p:sp>
        <p:nvSpPr>
          <p:cNvPr id="14" name="Shape 11"/>
          <p:cNvSpPr/>
          <p:nvPr/>
        </p:nvSpPr>
        <p:spPr>
          <a:xfrm>
            <a:off x="0" y="4846320"/>
            <a:ext cx="9144000" cy="292608"/>
          </a:xfrm>
          <a:prstGeom prst="rect">
            <a:avLst/>
          </a:prstGeom>
          <a:solidFill>
            <a:srgbClr val="1B3A1C"/>
          </a:solidFill>
          <a:ln/>
        </p:spPr>
      </p:sp>
      <p:sp>
        <p:nvSpPr>
          <p:cNvPr id="15" name="Text 12"/>
          <p:cNvSpPr/>
          <p:nvPr/>
        </p:nvSpPr>
        <p:spPr>
          <a:xfrm>
            <a:off x="274320" y="4864608"/>
            <a:ext cx="8595360" cy="237744"/>
          </a:xfrm>
          <a:prstGeom prst="rect">
            <a:avLst/>
          </a:prstGeom>
          <a:noFill/>
          <a:ln/>
        </p:spPr>
        <p:txBody>
          <a:bodyPr wrap="square" rtlCol="0" anchor="ctr"/>
          <a:lstStyle/>
          <a:p>
            <a:pPr algn="ctr" indent="0" marL="0">
              <a:buNone/>
            </a:pPr>
            <a:r>
              <a:rPr lang="en-US" sz="750" dirty="0">
                <a:solidFill>
                  <a:srgbClr val="97BC62"/>
                </a:solidFill>
                <a:latin typeface="Calibri" pitchFamily="34" charset="0"/>
                <a:ea typeface="Calibri" pitchFamily="34" charset="-122"/>
                <a:cs typeface="Calibri" pitchFamily="34" charset="-120"/>
              </a:rPr>
              <a:t>Himanshu Rai  |  Roll XW013-25  |  EMBA 2025 Winter  |  IIM Ranchi  |  ENT + WAI Project  |  Data: NEPRA BRSR + GHG Reports FY2022-23</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28090"/>
          </a:solidFill>
          <a:ln/>
        </p:spPr>
      </p:sp>
      <p:sp>
        <p:nvSpPr>
          <p:cNvPr id="3" name="Text 1"/>
          <p:cNvSpPr/>
          <p:nvPr/>
        </p:nvSpPr>
        <p:spPr>
          <a:xfrm>
            <a:off x="365760" y="91440"/>
            <a:ext cx="8412480" cy="438912"/>
          </a:xfrm>
          <a:prstGeom prst="rect">
            <a:avLst/>
          </a:prstGeom>
          <a:noFill/>
          <a:ln/>
        </p:spPr>
        <p:txBody>
          <a:bodyPr wrap="square" rtlCol="0" anchor="ctr"/>
          <a:lstStyle/>
          <a:p>
            <a:pPr indent="0" marL="0">
              <a:buNone/>
            </a:pPr>
            <a:r>
              <a:rPr lang="en-US" sz="1550" b="1" dirty="0">
                <a:solidFill>
                  <a:srgbClr val="FFFFFF"/>
                </a:solidFill>
                <a:latin typeface="Georgia" pitchFamily="34" charset="0"/>
                <a:ea typeface="Georgia" pitchFamily="34" charset="-122"/>
                <a:cs typeface="Georgia" pitchFamily="34" charset="-120"/>
              </a:rPr>
              <a:t>PROBLEM 2  —  EPR COMPLIANCE AT SCALE: Post-2022 Amendment Complexity</a:t>
            </a:r>
            <a:endParaRPr lang="en-US" sz="1550" dirty="0"/>
          </a:p>
        </p:txBody>
      </p:sp>
      <p:sp>
        <p:nvSpPr>
          <p:cNvPr id="4" name="Shape 2"/>
          <p:cNvSpPr/>
          <p:nvPr/>
        </p:nvSpPr>
        <p:spPr>
          <a:xfrm>
            <a:off x="256032" y="731520"/>
            <a:ext cx="8631936" cy="731520"/>
          </a:xfrm>
          <a:prstGeom prst="rect">
            <a:avLst/>
          </a:prstGeom>
          <a:solidFill>
            <a:srgbClr val="E0F4F8"/>
          </a:solidFill>
          <a:ln/>
          <a:effectLst>
            <a:outerShdw sx="100000" sy="100000" kx="0" ky="0" algn="bl" rotWithShape="0" blurRad="63500" dist="25400" dir="8100000">
              <a:srgbClr val="000000">
                <a:alpha val="10000"/>
              </a:srgbClr>
            </a:outerShdw>
          </a:effectLst>
        </p:spPr>
      </p:sp>
      <p:sp>
        <p:nvSpPr>
          <p:cNvPr id="5" name="Text 3"/>
          <p:cNvSpPr/>
          <p:nvPr/>
        </p:nvSpPr>
        <p:spPr>
          <a:xfrm>
            <a:off x="420624" y="822960"/>
            <a:ext cx="8321040" cy="530352"/>
          </a:xfrm>
          <a:prstGeom prst="rect">
            <a:avLst/>
          </a:prstGeom>
          <a:noFill/>
          <a:ln/>
        </p:spPr>
        <p:txBody>
          <a:bodyPr wrap="square" rtlCol="0" anchor="ctr"/>
          <a:lstStyle/>
          <a:p>
            <a:pPr indent="0" marL="0">
              <a:buNone/>
            </a:pPr>
            <a:r>
              <a:rPr lang="en-US" sz="1200" b="1" dirty="0">
                <a:solidFill>
                  <a:srgbClr val="1B3A1C"/>
                </a:solidFill>
                <a:latin typeface="Calibri" pitchFamily="34" charset="0"/>
                <a:ea typeface="Calibri" pitchFamily="34" charset="-122"/>
                <a:cs typeface="Calibri" pitchFamily="34" charset="-120"/>
              </a:rPr>
              <a:t>BRSR FY23 Confirmation:  EPR Advisory = 16% of total revenue (Table 16)  |  33 states + UTs coverage (Table 19)  |  6 web portals for governance (Table — Tech Disclosures)</a:t>
            </a:r>
            <a:endParaRPr lang="en-US" sz="1200" dirty="0"/>
          </a:p>
        </p:txBody>
      </p:sp>
      <p:sp>
        <p:nvSpPr>
          <p:cNvPr id="6" name="Shape 4"/>
          <p:cNvSpPr/>
          <p:nvPr/>
        </p:nvSpPr>
        <p:spPr>
          <a:xfrm>
            <a:off x="256032" y="1572768"/>
            <a:ext cx="4206240" cy="3145536"/>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7" name="Text 5"/>
          <p:cNvSpPr/>
          <p:nvPr/>
        </p:nvSpPr>
        <p:spPr>
          <a:xfrm>
            <a:off x="420624" y="1664208"/>
            <a:ext cx="3877056" cy="310896"/>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The Scale Problem</a:t>
            </a:r>
            <a:endParaRPr lang="en-US" sz="1300" dirty="0"/>
          </a:p>
        </p:txBody>
      </p:sp>
      <p:sp>
        <p:nvSpPr>
          <p:cNvPr id="8" name="Text 6"/>
          <p:cNvSpPr/>
          <p:nvPr/>
        </p:nvSpPr>
        <p:spPr>
          <a:xfrm>
            <a:off x="420624" y="2029968"/>
            <a:ext cx="3877056" cy="201168"/>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PIBO clients:  hundreds</a:t>
            </a:r>
            <a:endParaRPr lang="en-US" sz="1100" dirty="0"/>
          </a:p>
        </p:txBody>
      </p:sp>
      <p:sp>
        <p:nvSpPr>
          <p:cNvPr id="9" name="Text 7"/>
          <p:cNvSpPr/>
          <p:nvPr/>
        </p:nvSpPr>
        <p:spPr>
          <a:xfrm>
            <a:off x="420624" y="2249424"/>
            <a:ext cx="3877056" cy="201168"/>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4 plastic categories (PWM 2022)</a:t>
            </a:r>
            <a:endParaRPr lang="en-US" sz="1100" dirty="0"/>
          </a:p>
        </p:txBody>
      </p:sp>
      <p:sp>
        <p:nvSpPr>
          <p:cNvPr id="10" name="Text 8"/>
          <p:cNvSpPr/>
          <p:nvPr/>
        </p:nvSpPr>
        <p:spPr>
          <a:xfrm>
            <a:off x="420624" y="2468880"/>
            <a:ext cx="3877056" cy="201168"/>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4 quarterly checks per year</a:t>
            </a:r>
            <a:endParaRPr lang="en-US" sz="1100" dirty="0"/>
          </a:p>
        </p:txBody>
      </p:sp>
      <p:sp>
        <p:nvSpPr>
          <p:cNvPr id="11" name="Text 9"/>
          <p:cNvSpPr/>
          <p:nvPr/>
        </p:nvSpPr>
        <p:spPr>
          <a:xfrm>
            <a:off x="420624" y="2688336"/>
            <a:ext cx="3877056" cy="201168"/>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Thousands of data points / year</a:t>
            </a:r>
            <a:endParaRPr lang="en-US" sz="1100" dirty="0"/>
          </a:p>
        </p:txBody>
      </p:sp>
      <p:sp>
        <p:nvSpPr>
          <p:cNvPr id="12" name="Text 10"/>
          <p:cNvSpPr/>
          <p:nvPr/>
        </p:nvSpPr>
        <p:spPr>
          <a:xfrm>
            <a:off x="420624" y="2907792"/>
            <a:ext cx="3877056" cy="201168"/>
          </a:xfrm>
          <a:prstGeom prst="rect">
            <a:avLst/>
          </a:prstGeom>
          <a:noFill/>
          <a:ln/>
        </p:spPr>
        <p:txBody>
          <a:bodyPr wrap="square" rtlCol="0" anchor="ctr"/>
          <a:lstStyle/>
          <a:p>
            <a:pPr indent="0" marL="0">
              <a:buNone/>
            </a:pPr>
            <a:endParaRPr lang="en-US" sz="1100" dirty="0"/>
          </a:p>
        </p:txBody>
      </p:sp>
      <p:sp>
        <p:nvSpPr>
          <p:cNvPr id="13" name="Text 11"/>
          <p:cNvSpPr/>
          <p:nvPr/>
        </p:nvSpPr>
        <p:spPr>
          <a:xfrm>
            <a:off x="420624" y="3127248"/>
            <a:ext cx="3877056" cy="201168"/>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Manual capacity: ~45/person/month</a:t>
            </a:r>
            <a:endParaRPr lang="en-US" sz="1100" dirty="0"/>
          </a:p>
        </p:txBody>
      </p:sp>
      <p:sp>
        <p:nvSpPr>
          <p:cNvPr id="14" name="Text 12"/>
          <p:cNvSpPr/>
          <p:nvPr/>
        </p:nvSpPr>
        <p:spPr>
          <a:xfrm>
            <a:off x="420624" y="3346704"/>
            <a:ext cx="3877056" cy="201168"/>
          </a:xfrm>
          <a:prstGeom prst="rect">
            <a:avLst/>
          </a:prstGeom>
          <a:noFill/>
          <a:ln/>
        </p:spPr>
        <p:txBody>
          <a:bodyPr wrap="square" rtlCol="0" anchor="ctr"/>
          <a:lstStyle/>
          <a:p>
            <a:pPr indent="0" marL="0">
              <a:buNone/>
            </a:pPr>
            <a:r>
              <a:rPr lang="en-US" sz="1100" b="1" dirty="0">
                <a:solidFill>
                  <a:srgbClr val="E07B39"/>
                </a:solidFill>
                <a:latin typeface="Calibri" pitchFamily="34" charset="0"/>
                <a:ea typeface="Calibri" pitchFamily="34" charset="-122"/>
                <a:cs typeface="Calibri" pitchFamily="34" charset="-120"/>
              </a:rPr>
              <a:t>→ Would need 31 staff manually</a:t>
            </a:r>
            <a:endParaRPr lang="en-US" sz="1100" dirty="0"/>
          </a:p>
        </p:txBody>
      </p:sp>
      <p:sp>
        <p:nvSpPr>
          <p:cNvPr id="15" name="Text 13"/>
          <p:cNvSpPr/>
          <p:nvPr/>
        </p:nvSpPr>
        <p:spPr>
          <a:xfrm>
            <a:off x="420624" y="3566160"/>
            <a:ext cx="3877056" cy="201168"/>
          </a:xfrm>
          <a:prstGeom prst="rect">
            <a:avLst/>
          </a:prstGeom>
          <a:noFill/>
          <a:ln/>
        </p:spPr>
        <p:txBody>
          <a:bodyPr wrap="square"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 NEPRA manages with 3  (AI-assisted)</a:t>
            </a:r>
            <a:endParaRPr lang="en-US" sz="1100" dirty="0"/>
          </a:p>
        </p:txBody>
      </p:sp>
      <p:sp>
        <p:nvSpPr>
          <p:cNvPr id="16" name="Text 14"/>
          <p:cNvSpPr/>
          <p:nvPr/>
        </p:nvSpPr>
        <p:spPr>
          <a:xfrm>
            <a:off x="420624" y="3785616"/>
            <a:ext cx="3877056" cy="201168"/>
          </a:xfrm>
          <a:prstGeom prst="rect">
            <a:avLst/>
          </a:prstGeom>
          <a:noFill/>
          <a:ln/>
        </p:spPr>
        <p:txBody>
          <a:bodyPr wrap="square" rtlCol="0" anchor="ctr"/>
          <a:lstStyle/>
          <a:p>
            <a:pPr indent="0" marL="0">
              <a:buNone/>
            </a:pPr>
            <a:endParaRPr lang="en-US" sz="1100" dirty="0"/>
          </a:p>
        </p:txBody>
      </p:sp>
      <p:sp>
        <p:nvSpPr>
          <p:cNvPr id="17" name="Text 15"/>
          <p:cNvSpPr/>
          <p:nvPr/>
        </p:nvSpPr>
        <p:spPr>
          <a:xfrm>
            <a:off x="420624" y="4005072"/>
            <a:ext cx="3877056" cy="201168"/>
          </a:xfrm>
          <a:prstGeom prst="rect">
            <a:avLst/>
          </a:prstGeom>
          <a:noFill/>
          <a:ln/>
        </p:spPr>
        <p:txBody>
          <a:bodyPr wrap="square"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BRSR Table 16: EPR = 16% revenue</a:t>
            </a:r>
            <a:endParaRPr lang="en-US" sz="1100" dirty="0"/>
          </a:p>
        </p:txBody>
      </p:sp>
      <p:sp>
        <p:nvSpPr>
          <p:cNvPr id="18" name="Text 16"/>
          <p:cNvSpPr/>
          <p:nvPr/>
        </p:nvSpPr>
        <p:spPr>
          <a:xfrm>
            <a:off x="420624" y="4224528"/>
            <a:ext cx="3877056" cy="201168"/>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in first full year post-amendment</a:t>
            </a:r>
            <a:endParaRPr lang="en-US" sz="1100" dirty="0"/>
          </a:p>
        </p:txBody>
      </p:sp>
      <p:sp>
        <p:nvSpPr>
          <p:cNvPr id="19" name="Shape 17"/>
          <p:cNvSpPr/>
          <p:nvPr/>
        </p:nvSpPr>
        <p:spPr>
          <a:xfrm>
            <a:off x="4681728" y="1572768"/>
            <a:ext cx="4206240" cy="3145536"/>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0" name="Text 18"/>
          <p:cNvSpPr/>
          <p:nvPr/>
        </p:nvSpPr>
        <p:spPr>
          <a:xfrm>
            <a:off x="4846320" y="1664208"/>
            <a:ext cx="3877056" cy="310896"/>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Three AI Challenges</a:t>
            </a:r>
            <a:endParaRPr lang="en-US" sz="1300" dirty="0"/>
          </a:p>
        </p:txBody>
      </p:sp>
      <p:sp>
        <p:nvSpPr>
          <p:cNvPr id="21" name="Shape 19"/>
          <p:cNvSpPr/>
          <p:nvPr/>
        </p:nvSpPr>
        <p:spPr>
          <a:xfrm>
            <a:off x="4828032" y="2176272"/>
            <a:ext cx="292608" cy="292608"/>
          </a:xfrm>
          <a:prstGeom prst="ellipse">
            <a:avLst/>
          </a:prstGeom>
          <a:solidFill>
            <a:srgbClr val="028090"/>
          </a:solidFill>
          <a:ln/>
        </p:spPr>
      </p:sp>
      <p:sp>
        <p:nvSpPr>
          <p:cNvPr id="22" name="Text 20"/>
          <p:cNvSpPr/>
          <p:nvPr/>
        </p:nvSpPr>
        <p:spPr>
          <a:xfrm>
            <a:off x="4828032" y="2176272"/>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3" name="Text 21"/>
          <p:cNvSpPr/>
          <p:nvPr/>
        </p:nvSpPr>
        <p:spPr>
          <a:xfrm>
            <a:off x="5193792" y="2176272"/>
            <a:ext cx="3529584" cy="256032"/>
          </a:xfrm>
          <a:prstGeom prst="rect">
            <a:avLst/>
          </a:prstGeom>
          <a:noFill/>
          <a:ln/>
        </p:spPr>
        <p:txBody>
          <a:bodyPr wrap="square"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Regulatory Velocity</a:t>
            </a:r>
            <a:endParaRPr lang="en-US" sz="1200" dirty="0"/>
          </a:p>
        </p:txBody>
      </p:sp>
      <p:sp>
        <p:nvSpPr>
          <p:cNvPr id="24" name="Text 22"/>
          <p:cNvSpPr/>
          <p:nvPr/>
        </p:nvSpPr>
        <p:spPr>
          <a:xfrm>
            <a:off x="5193792" y="2450592"/>
            <a:ext cx="3529584" cy="566928"/>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CPCB updated PWM rules 12+ times since 2022. Manual review takes days per circular.</a:t>
            </a:r>
            <a:endParaRPr lang="en-US" sz="1050" dirty="0"/>
          </a:p>
        </p:txBody>
      </p:sp>
      <p:sp>
        <p:nvSpPr>
          <p:cNvPr id="25" name="Shape 23"/>
          <p:cNvSpPr/>
          <p:nvPr/>
        </p:nvSpPr>
        <p:spPr>
          <a:xfrm>
            <a:off x="4828032" y="3127248"/>
            <a:ext cx="292608" cy="292608"/>
          </a:xfrm>
          <a:prstGeom prst="ellipse">
            <a:avLst/>
          </a:prstGeom>
          <a:solidFill>
            <a:srgbClr val="028090"/>
          </a:solidFill>
          <a:ln/>
        </p:spPr>
      </p:sp>
      <p:sp>
        <p:nvSpPr>
          <p:cNvPr id="26" name="Text 24"/>
          <p:cNvSpPr/>
          <p:nvPr/>
        </p:nvSpPr>
        <p:spPr>
          <a:xfrm>
            <a:off x="4828032" y="3127248"/>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7" name="Text 25"/>
          <p:cNvSpPr/>
          <p:nvPr/>
        </p:nvSpPr>
        <p:spPr>
          <a:xfrm>
            <a:off x="5193792" y="3127248"/>
            <a:ext cx="3529584" cy="256032"/>
          </a:xfrm>
          <a:prstGeom prst="rect">
            <a:avLst/>
          </a:prstGeom>
          <a:noFill/>
          <a:ln/>
        </p:spPr>
        <p:txBody>
          <a:bodyPr wrap="square"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Certificate Fraud</a:t>
            </a:r>
            <a:endParaRPr lang="en-US" sz="1200" dirty="0"/>
          </a:p>
        </p:txBody>
      </p:sp>
      <p:sp>
        <p:nvSpPr>
          <p:cNvPr id="28" name="Text 26"/>
          <p:cNvSpPr/>
          <p:nvPr/>
        </p:nvSpPr>
        <p:spPr>
          <a:xfrm>
            <a:off x="5193792" y="3401568"/>
            <a:ext cx="3529584" cy="566928"/>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Ghost recyclers issue fake EPR certificates. NEPRA's credibility depends on verified-only certs.</a:t>
            </a:r>
            <a:endParaRPr lang="en-US" sz="1050" dirty="0"/>
          </a:p>
        </p:txBody>
      </p:sp>
      <p:sp>
        <p:nvSpPr>
          <p:cNvPr id="29" name="Shape 27"/>
          <p:cNvSpPr/>
          <p:nvPr/>
        </p:nvSpPr>
        <p:spPr>
          <a:xfrm>
            <a:off x="4828032" y="4078224"/>
            <a:ext cx="292608" cy="292608"/>
          </a:xfrm>
          <a:prstGeom prst="ellipse">
            <a:avLst/>
          </a:prstGeom>
          <a:solidFill>
            <a:srgbClr val="028090"/>
          </a:solidFill>
          <a:ln/>
        </p:spPr>
      </p:sp>
      <p:sp>
        <p:nvSpPr>
          <p:cNvPr id="30" name="Text 28"/>
          <p:cNvSpPr/>
          <p:nvPr/>
        </p:nvSpPr>
        <p:spPr>
          <a:xfrm>
            <a:off x="4828032" y="4078224"/>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1" name="Text 29"/>
          <p:cNvSpPr/>
          <p:nvPr/>
        </p:nvSpPr>
        <p:spPr>
          <a:xfrm>
            <a:off x="5193792" y="4078224"/>
            <a:ext cx="3529584" cy="256032"/>
          </a:xfrm>
          <a:prstGeom prst="rect">
            <a:avLst/>
          </a:prstGeom>
          <a:noFill/>
          <a:ln/>
        </p:spPr>
        <p:txBody>
          <a:bodyPr wrap="square"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Gap Blindness</a:t>
            </a:r>
            <a:endParaRPr lang="en-US" sz="1200" dirty="0"/>
          </a:p>
        </p:txBody>
      </p:sp>
      <p:sp>
        <p:nvSpPr>
          <p:cNvPr id="32" name="Text 30"/>
          <p:cNvSpPr/>
          <p:nvPr/>
        </p:nvSpPr>
        <p:spPr>
          <a:xfrm>
            <a:off x="5193792" y="4352544"/>
            <a:ext cx="3529584" cy="566928"/>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PIBOs discovering Q4 shortfalls face 3-5× higher certificate prices than Q1.</a:t>
            </a:r>
            <a:endParaRPr lang="en-US" sz="1050" dirty="0"/>
          </a:p>
        </p:txBody>
      </p:sp>
      <p:sp>
        <p:nvSpPr>
          <p:cNvPr id="33" name="Shape 31"/>
          <p:cNvSpPr/>
          <p:nvPr/>
        </p:nvSpPr>
        <p:spPr>
          <a:xfrm>
            <a:off x="256032" y="4709160"/>
            <a:ext cx="8631936" cy="164592"/>
          </a:xfrm>
          <a:prstGeom prst="rect">
            <a:avLst/>
          </a:prstGeom>
          <a:solidFill>
            <a:srgbClr val="D6EAD7"/>
          </a:solidFill>
          <a:ln/>
        </p:spPr>
      </p:sp>
      <p:sp>
        <p:nvSpPr>
          <p:cNvPr id="34" name="Text 32"/>
          <p:cNvSpPr/>
          <p:nvPr/>
        </p:nvSpPr>
        <p:spPr>
          <a:xfrm>
            <a:off x="310896" y="4718304"/>
            <a:ext cx="8503920" cy="146304"/>
          </a:xfrm>
          <a:prstGeom prst="rect">
            <a:avLst/>
          </a:prstGeom>
          <a:noFill/>
          <a:ln/>
        </p:spPr>
        <p:txBody>
          <a:bodyPr wrap="square" rtlCol="0" anchor="ctr"/>
          <a:lstStyle/>
          <a:p>
            <a:pPr indent="0" marL="0">
              <a:buNone/>
            </a:pPr>
            <a:r>
              <a:rPr lang="en-US" sz="750" i="1" dirty="0">
                <a:solidFill>
                  <a:srgbClr val="1B3A1C"/>
                </a:solidFill>
                <a:latin typeface="Calibri" pitchFamily="34" charset="0"/>
                <a:ea typeface="Calibri" pitchFamily="34" charset="-122"/>
                <a:cs typeface="Calibri" pitchFamily="34" charset="-120"/>
              </a:rPr>
              <a:t>Source: NEPRA BRSR FY2022-23 Tables 16 &amp; 19  |  MoEFCC Plastic Waste Management (Amendment) Rules 2022</a:t>
            </a:r>
            <a:endParaRPr lang="en-US" sz="750" dirty="0"/>
          </a:p>
        </p:txBody>
      </p:sp>
      <p:sp>
        <p:nvSpPr>
          <p:cNvPr id="35" name="Shape 33"/>
          <p:cNvSpPr/>
          <p:nvPr/>
        </p:nvSpPr>
        <p:spPr>
          <a:xfrm>
            <a:off x="0" y="4846320"/>
            <a:ext cx="9144000" cy="292608"/>
          </a:xfrm>
          <a:prstGeom prst="rect">
            <a:avLst/>
          </a:prstGeom>
          <a:solidFill>
            <a:srgbClr val="1B3A1C"/>
          </a:solidFill>
          <a:ln/>
        </p:spPr>
      </p:sp>
      <p:sp>
        <p:nvSpPr>
          <p:cNvPr id="36" name="Text 34"/>
          <p:cNvSpPr/>
          <p:nvPr/>
        </p:nvSpPr>
        <p:spPr>
          <a:xfrm>
            <a:off x="274320" y="4864608"/>
            <a:ext cx="8595360" cy="237744"/>
          </a:xfrm>
          <a:prstGeom prst="rect">
            <a:avLst/>
          </a:prstGeom>
          <a:noFill/>
          <a:ln/>
        </p:spPr>
        <p:txBody>
          <a:bodyPr wrap="square" rtlCol="0" anchor="ctr"/>
          <a:lstStyle/>
          <a:p>
            <a:pPr algn="ctr" indent="0" marL="0">
              <a:buNone/>
            </a:pPr>
            <a:r>
              <a:rPr lang="en-US" sz="750" dirty="0">
                <a:solidFill>
                  <a:srgbClr val="97BC62"/>
                </a:solidFill>
                <a:latin typeface="Calibri" pitchFamily="34" charset="0"/>
                <a:ea typeface="Calibri" pitchFamily="34" charset="-122"/>
                <a:cs typeface="Calibri" pitchFamily="34" charset="-120"/>
              </a:rPr>
              <a:t>Himanshu Rai  |  Roll XW013-25  |  EMBA 2025 Winter  |  IIM Ranchi  |  ENT + WAI Project  |  Data: NEPRA BRSR + GHG Reports FY2022-23</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3"/>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2C5F2D"/>
          </a:solidFill>
          <a:ln/>
        </p:spPr>
      </p:sp>
      <p:sp>
        <p:nvSpPr>
          <p:cNvPr id="3" name="Text 1"/>
          <p:cNvSpPr/>
          <p:nvPr/>
        </p:nvSpPr>
        <p:spPr>
          <a:xfrm>
            <a:off x="365760" y="91440"/>
            <a:ext cx="8412480" cy="45720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PROBLEM 2 SOLUTION  —  EPR CONNECT, NLP MONITORING &amp; COMPLIANCE PREDICTOR</a:t>
            </a:r>
            <a:endParaRPr lang="en-US" sz="1700" dirty="0"/>
          </a:p>
        </p:txBody>
      </p:sp>
      <p:sp>
        <p:nvSpPr>
          <p:cNvPr id="4" name="Shape 2"/>
          <p:cNvSpPr/>
          <p:nvPr/>
        </p:nvSpPr>
        <p:spPr>
          <a:xfrm>
            <a:off x="256032" y="749808"/>
            <a:ext cx="4224528" cy="841248"/>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5" name="Shape 3"/>
          <p:cNvSpPr/>
          <p:nvPr/>
        </p:nvSpPr>
        <p:spPr>
          <a:xfrm>
            <a:off x="256032" y="749808"/>
            <a:ext cx="64008" cy="841248"/>
          </a:xfrm>
          <a:prstGeom prst="rect">
            <a:avLst/>
          </a:prstGeom>
          <a:solidFill>
            <a:srgbClr val="028090"/>
          </a:solidFill>
          <a:ln/>
        </p:spPr>
      </p:sp>
      <p:sp>
        <p:nvSpPr>
          <p:cNvPr id="6" name="Text 4"/>
          <p:cNvSpPr/>
          <p:nvPr/>
        </p:nvSpPr>
        <p:spPr>
          <a:xfrm>
            <a:off x="438912" y="795528"/>
            <a:ext cx="3968496" cy="274320"/>
          </a:xfrm>
          <a:prstGeom prst="rect">
            <a:avLst/>
          </a:prstGeom>
          <a:noFill/>
          <a:ln/>
        </p:spPr>
        <p:txBody>
          <a:bodyPr wrap="square"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EPR Connect</a:t>
            </a:r>
            <a:endParaRPr lang="en-US" sz="1150" dirty="0"/>
          </a:p>
          <a:p>
            <a:pPr indent="0" marL="0">
              <a:buNone/>
            </a:pPr>
            <a:r>
              <a:rPr lang="en-US" sz="1150" b="1" dirty="0">
                <a:solidFill>
                  <a:srgbClr val="028090"/>
                </a:solidFill>
                <a:latin typeface="Calibri" pitchFamily="34" charset="0"/>
                <a:ea typeface="Calibri" pitchFamily="34" charset="-122"/>
                <a:cs typeface="Calibri" pitchFamily="34" charset="-120"/>
              </a:rPr>
              <a:t>Platform</a:t>
            </a:r>
            <a:endParaRPr lang="en-US" sz="1150" dirty="0"/>
          </a:p>
        </p:txBody>
      </p:sp>
      <p:sp>
        <p:nvSpPr>
          <p:cNvPr id="7" name="Text 5"/>
          <p:cNvSpPr/>
          <p:nvPr/>
        </p:nvSpPr>
        <p:spPr>
          <a:xfrm>
            <a:off x="438912" y="1097280"/>
            <a:ext cx="3968496" cy="457200"/>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Centralised real-time compliance dashboard for all PIBO clients. Certificate balance vs. liability by plastic category. Auto-alerts. Referenced explicitly in BRSR FY23.</a:t>
            </a:r>
            <a:endParaRPr lang="en-US" sz="1050" dirty="0"/>
          </a:p>
        </p:txBody>
      </p:sp>
      <p:sp>
        <p:nvSpPr>
          <p:cNvPr id="8" name="Shape 6"/>
          <p:cNvSpPr/>
          <p:nvPr/>
        </p:nvSpPr>
        <p:spPr>
          <a:xfrm>
            <a:off x="256032" y="1700784"/>
            <a:ext cx="4224528" cy="841248"/>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9" name="Shape 7"/>
          <p:cNvSpPr/>
          <p:nvPr/>
        </p:nvSpPr>
        <p:spPr>
          <a:xfrm>
            <a:off x="256032" y="1700784"/>
            <a:ext cx="64008" cy="841248"/>
          </a:xfrm>
          <a:prstGeom prst="rect">
            <a:avLst/>
          </a:prstGeom>
          <a:solidFill>
            <a:srgbClr val="028090"/>
          </a:solidFill>
          <a:ln/>
        </p:spPr>
      </p:sp>
      <p:sp>
        <p:nvSpPr>
          <p:cNvPr id="10" name="Text 8"/>
          <p:cNvSpPr/>
          <p:nvPr/>
        </p:nvSpPr>
        <p:spPr>
          <a:xfrm>
            <a:off x="438912" y="1746504"/>
            <a:ext cx="3968496" cy="274320"/>
          </a:xfrm>
          <a:prstGeom prst="rect">
            <a:avLst/>
          </a:prstGeom>
          <a:noFill/>
          <a:ln/>
        </p:spPr>
        <p:txBody>
          <a:bodyPr wrap="square"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NLP Regulatory</a:t>
            </a:r>
            <a:endParaRPr lang="en-US" sz="1150" dirty="0"/>
          </a:p>
          <a:p>
            <a:pPr indent="0" marL="0">
              <a:buNone/>
            </a:pPr>
            <a:r>
              <a:rPr lang="en-US" sz="1150" b="1" dirty="0">
                <a:solidFill>
                  <a:srgbClr val="028090"/>
                </a:solidFill>
                <a:latin typeface="Calibri" pitchFamily="34" charset="0"/>
                <a:ea typeface="Calibri" pitchFamily="34" charset="-122"/>
                <a:cs typeface="Calibri" pitchFamily="34" charset="-120"/>
              </a:rPr>
              <a:t>Monitoring</a:t>
            </a:r>
            <a:endParaRPr lang="en-US" sz="1150" dirty="0"/>
          </a:p>
        </p:txBody>
      </p:sp>
      <p:sp>
        <p:nvSpPr>
          <p:cNvPr id="11" name="Text 9"/>
          <p:cNvSpPr/>
          <p:nvPr/>
        </p:nvSpPr>
        <p:spPr>
          <a:xfrm>
            <a:off x="438912" y="2048256"/>
            <a:ext cx="3968496" cy="457200"/>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CPCB notifications parsed in hours via AI (Claude). Regulatory updates auto-converted to PIBO advisory notes. Covers all 33 states + UTs.</a:t>
            </a:r>
            <a:endParaRPr lang="en-US" sz="1050" dirty="0"/>
          </a:p>
        </p:txBody>
      </p:sp>
      <p:sp>
        <p:nvSpPr>
          <p:cNvPr id="12" name="Shape 10"/>
          <p:cNvSpPr/>
          <p:nvPr/>
        </p:nvSpPr>
        <p:spPr>
          <a:xfrm>
            <a:off x="256032" y="2651760"/>
            <a:ext cx="4224528" cy="841248"/>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3" name="Shape 11"/>
          <p:cNvSpPr/>
          <p:nvPr/>
        </p:nvSpPr>
        <p:spPr>
          <a:xfrm>
            <a:off x="256032" y="2651760"/>
            <a:ext cx="64008" cy="841248"/>
          </a:xfrm>
          <a:prstGeom prst="rect">
            <a:avLst/>
          </a:prstGeom>
          <a:solidFill>
            <a:srgbClr val="028090"/>
          </a:solidFill>
          <a:ln/>
        </p:spPr>
      </p:sp>
      <p:sp>
        <p:nvSpPr>
          <p:cNvPr id="14" name="Text 12"/>
          <p:cNvSpPr/>
          <p:nvPr/>
        </p:nvSpPr>
        <p:spPr>
          <a:xfrm>
            <a:off x="438912" y="2697480"/>
            <a:ext cx="3968496" cy="274320"/>
          </a:xfrm>
          <a:prstGeom prst="rect">
            <a:avLst/>
          </a:prstGeom>
          <a:noFill/>
          <a:ln/>
        </p:spPr>
        <p:txBody>
          <a:bodyPr wrap="square"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Compliance Gap</a:t>
            </a:r>
            <a:endParaRPr lang="en-US" sz="1150" dirty="0"/>
          </a:p>
          <a:p>
            <a:pPr indent="0" marL="0">
              <a:buNone/>
            </a:pPr>
            <a:r>
              <a:rPr lang="en-US" sz="1150" b="1" dirty="0">
                <a:solidFill>
                  <a:srgbClr val="028090"/>
                </a:solidFill>
                <a:latin typeface="Calibri" pitchFamily="34" charset="0"/>
                <a:ea typeface="Calibri" pitchFamily="34" charset="-122"/>
                <a:cs typeface="Calibri" pitchFamily="34" charset="-120"/>
              </a:rPr>
              <a:t>Predictor (ML)</a:t>
            </a:r>
            <a:endParaRPr lang="en-US" sz="1150" dirty="0"/>
          </a:p>
        </p:txBody>
      </p:sp>
      <p:sp>
        <p:nvSpPr>
          <p:cNvPr id="15" name="Text 13"/>
          <p:cNvSpPr/>
          <p:nvPr/>
        </p:nvSpPr>
        <p:spPr>
          <a:xfrm>
            <a:off x="438912" y="2999232"/>
            <a:ext cx="3968496" cy="457200"/>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Linear regression (Python scikit-learn): forecasts PIBO compliance shortfall 3-6 months ahead. R² = 0.595. Enables Q1-Q3 procurement before Q4 price spikes.</a:t>
            </a:r>
            <a:endParaRPr lang="en-US" sz="1050" dirty="0"/>
          </a:p>
        </p:txBody>
      </p:sp>
      <p:sp>
        <p:nvSpPr>
          <p:cNvPr id="16" name="Shape 14"/>
          <p:cNvSpPr/>
          <p:nvPr/>
        </p:nvSpPr>
        <p:spPr>
          <a:xfrm>
            <a:off x="256032" y="3602736"/>
            <a:ext cx="4224528" cy="841248"/>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7" name="Shape 15"/>
          <p:cNvSpPr/>
          <p:nvPr/>
        </p:nvSpPr>
        <p:spPr>
          <a:xfrm>
            <a:off x="256032" y="3602736"/>
            <a:ext cx="64008" cy="841248"/>
          </a:xfrm>
          <a:prstGeom prst="rect">
            <a:avLst/>
          </a:prstGeom>
          <a:solidFill>
            <a:srgbClr val="028090"/>
          </a:solidFill>
          <a:ln/>
        </p:spPr>
      </p:sp>
      <p:sp>
        <p:nvSpPr>
          <p:cNvPr id="18" name="Text 16"/>
          <p:cNvSpPr/>
          <p:nvPr/>
        </p:nvSpPr>
        <p:spPr>
          <a:xfrm>
            <a:off x="438912" y="3648456"/>
            <a:ext cx="3968496" cy="274320"/>
          </a:xfrm>
          <a:prstGeom prst="rect">
            <a:avLst/>
          </a:prstGeom>
          <a:noFill/>
          <a:ln/>
        </p:spPr>
        <p:txBody>
          <a:bodyPr wrap="square"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Power BI</a:t>
            </a:r>
            <a:endParaRPr lang="en-US" sz="1150" dirty="0"/>
          </a:p>
          <a:p>
            <a:pPr indent="0" marL="0">
              <a:buNone/>
            </a:pPr>
            <a:r>
              <a:rPr lang="en-US" sz="1150" b="1" dirty="0">
                <a:solidFill>
                  <a:srgbClr val="028090"/>
                </a:solidFill>
                <a:latin typeface="Calibri" pitchFamily="34" charset="0"/>
                <a:ea typeface="Calibri" pitchFamily="34" charset="-122"/>
                <a:cs typeface="Calibri" pitchFamily="34" charset="-120"/>
              </a:rPr>
              <a:t>Dashboard</a:t>
            </a:r>
            <a:endParaRPr lang="en-US" sz="1150" dirty="0"/>
          </a:p>
        </p:txBody>
      </p:sp>
      <p:sp>
        <p:nvSpPr>
          <p:cNvPr id="19" name="Text 17"/>
          <p:cNvSpPr/>
          <p:nvPr/>
        </p:nvSpPr>
        <p:spPr>
          <a:xfrm>
            <a:off x="438912" y="3950208"/>
            <a:ext cx="3968496" cy="457200"/>
          </a:xfrm>
          <a:prstGeom prst="rect">
            <a:avLst/>
          </a:prstGeom>
          <a:noFill/>
          <a:ln/>
        </p:spPr>
        <p:txBody>
          <a:bodyPr wrap="square" rtlCol="0" anchor="ctr"/>
          <a:lstStyle/>
          <a:p>
            <a:pPr indent="0" marL="0">
              <a:buNone/>
            </a:pPr>
            <a:r>
              <a:rPr lang="en-US" sz="1050" dirty="0">
                <a:solidFill>
                  <a:srgbClr val="2D3748"/>
                </a:solidFill>
                <a:latin typeface="Calibri" pitchFamily="34" charset="0"/>
                <a:ea typeface="Calibri" pitchFamily="34" charset="-122"/>
                <a:cs typeface="Calibri" pitchFamily="34" charset="-120"/>
              </a:rPr>
              <a:t>Visual compliance tracking exportable for PIBO ESG reports and annual CPCB return filings. Six web portals confirmed in BRSR FY23.</a:t>
            </a:r>
            <a:endParaRPr lang="en-US" sz="1050" dirty="0"/>
          </a:p>
        </p:txBody>
      </p:sp>
      <p:pic>
        <p:nvPicPr>
          <p:cNvPr id="20" name="Image 0" descr="preencoded.png">    </p:cNvPr>
          <p:cNvPicPr>
            <a:picLocks noChangeAspect="1"/>
          </p:cNvPicPr>
          <p:nvPr/>
        </p:nvPicPr>
        <p:blipFill>
          <a:blip r:embed="rId1"/>
          <a:stretch>
            <a:fillRect/>
          </a:stretch>
        </p:blipFill>
        <p:spPr>
          <a:xfrm>
            <a:off x="4645152" y="694944"/>
            <a:ext cx="4261104" cy="3803904"/>
          </a:xfrm>
          <a:prstGeom prst="rect">
            <a:avLst/>
          </a:prstGeom>
        </p:spPr>
      </p:pic>
      <p:sp>
        <p:nvSpPr>
          <p:cNvPr id="21" name="Text 18"/>
          <p:cNvSpPr/>
          <p:nvPr/>
        </p:nvSpPr>
        <p:spPr>
          <a:xfrm>
            <a:off x="4645152" y="4517136"/>
            <a:ext cx="4261104" cy="201168"/>
          </a:xfrm>
          <a:prstGeom prst="rect">
            <a:avLst/>
          </a:prstGeom>
          <a:noFill/>
          <a:ln/>
        </p:spPr>
        <p:txBody>
          <a:bodyPr wrap="square"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GHG mitigated: 2,80,260 MT CO2e  vs  own emissions: 1,899 MT CO2e  =  148×  |  Source: GHG Inventory Report FY2022-23</a:t>
            </a:r>
            <a:endParaRPr lang="en-US" sz="800" dirty="0"/>
          </a:p>
        </p:txBody>
      </p:sp>
      <p:sp>
        <p:nvSpPr>
          <p:cNvPr id="22" name="Shape 19"/>
          <p:cNvSpPr/>
          <p:nvPr/>
        </p:nvSpPr>
        <p:spPr>
          <a:xfrm>
            <a:off x="256032" y="4709160"/>
            <a:ext cx="8631936" cy="164592"/>
          </a:xfrm>
          <a:prstGeom prst="rect">
            <a:avLst/>
          </a:prstGeom>
          <a:solidFill>
            <a:srgbClr val="D6EAD7"/>
          </a:solidFill>
          <a:ln/>
        </p:spPr>
      </p:sp>
      <p:sp>
        <p:nvSpPr>
          <p:cNvPr id="23" name="Text 20"/>
          <p:cNvSpPr/>
          <p:nvPr/>
        </p:nvSpPr>
        <p:spPr>
          <a:xfrm>
            <a:off x="310896" y="4718304"/>
            <a:ext cx="8503920" cy="146304"/>
          </a:xfrm>
          <a:prstGeom prst="rect">
            <a:avLst/>
          </a:prstGeom>
          <a:noFill/>
          <a:ln/>
        </p:spPr>
        <p:txBody>
          <a:bodyPr wrap="square" rtlCol="0" anchor="ctr"/>
          <a:lstStyle/>
          <a:p>
            <a:pPr indent="0" marL="0">
              <a:buNone/>
            </a:pPr>
            <a:r>
              <a:rPr lang="en-US" sz="750" i="1" dirty="0">
                <a:solidFill>
                  <a:srgbClr val="1B3A1C"/>
                </a:solidFill>
                <a:latin typeface="Calibri" pitchFamily="34" charset="0"/>
                <a:ea typeface="Calibri" pitchFamily="34" charset="-122"/>
                <a:cs typeface="Calibri" pitchFamily="34" charset="-120"/>
              </a:rPr>
              <a:t>Source: BRSR FY23 (EPR Connect + 6 portals)  |  GHG Report FY23 (all GHG figures)  |  Python scikit-learn (compliance model)</a:t>
            </a:r>
            <a:endParaRPr lang="en-US" sz="750" dirty="0"/>
          </a:p>
        </p:txBody>
      </p:sp>
      <p:sp>
        <p:nvSpPr>
          <p:cNvPr id="24" name="Shape 21"/>
          <p:cNvSpPr/>
          <p:nvPr/>
        </p:nvSpPr>
        <p:spPr>
          <a:xfrm>
            <a:off x="0" y="4846320"/>
            <a:ext cx="9144000" cy="292608"/>
          </a:xfrm>
          <a:prstGeom prst="rect">
            <a:avLst/>
          </a:prstGeom>
          <a:solidFill>
            <a:srgbClr val="1B3A1C"/>
          </a:solidFill>
          <a:ln/>
        </p:spPr>
      </p:sp>
      <p:sp>
        <p:nvSpPr>
          <p:cNvPr id="25" name="Text 22"/>
          <p:cNvSpPr/>
          <p:nvPr/>
        </p:nvSpPr>
        <p:spPr>
          <a:xfrm>
            <a:off x="274320" y="4864608"/>
            <a:ext cx="8595360" cy="237744"/>
          </a:xfrm>
          <a:prstGeom prst="rect">
            <a:avLst/>
          </a:prstGeom>
          <a:noFill/>
          <a:ln/>
        </p:spPr>
        <p:txBody>
          <a:bodyPr wrap="square" rtlCol="0" anchor="ctr"/>
          <a:lstStyle/>
          <a:p>
            <a:pPr algn="ctr" indent="0" marL="0">
              <a:buNone/>
            </a:pPr>
            <a:r>
              <a:rPr lang="en-US" sz="750" dirty="0">
                <a:solidFill>
                  <a:srgbClr val="97BC62"/>
                </a:solidFill>
                <a:latin typeface="Calibri" pitchFamily="34" charset="0"/>
                <a:ea typeface="Calibri" pitchFamily="34" charset="-122"/>
                <a:cs typeface="Calibri" pitchFamily="34" charset="-120"/>
              </a:rPr>
              <a:t>Himanshu Rai  |  Roll XW013-25  |  EMBA 2025 Winter  |  IIM Ranchi  |  ENT + WAI Project  |  Data: NEPRA BRSR + GHG Reports FY2022-23</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7F2"/>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2C5F2D"/>
          </a:solidFill>
          <a:ln/>
        </p:spPr>
      </p:sp>
      <p:sp>
        <p:nvSpPr>
          <p:cNvPr id="3" name="Text 1"/>
          <p:cNvSpPr/>
          <p:nvPr/>
        </p:nvSpPr>
        <p:spPr>
          <a:xfrm>
            <a:off x="365760" y="91440"/>
            <a:ext cx="8412480" cy="45720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REAL DATA: Revenue Mix + Funding + Python ML Models</a:t>
            </a:r>
            <a:endParaRPr lang="en-US" sz="1700" dirty="0"/>
          </a:p>
        </p:txBody>
      </p:sp>
      <p:pic>
        <p:nvPicPr>
          <p:cNvPr id="4" name="Image 0" descr="preencoded.png">    </p:cNvPr>
          <p:cNvPicPr>
            <a:picLocks noChangeAspect="1"/>
          </p:cNvPicPr>
          <p:nvPr/>
        </p:nvPicPr>
        <p:blipFill>
          <a:blip r:embed="rId1"/>
          <a:stretch>
            <a:fillRect/>
          </a:stretch>
        </p:blipFill>
        <p:spPr>
          <a:xfrm>
            <a:off x="256032" y="694944"/>
            <a:ext cx="4315968" cy="2286000"/>
          </a:xfrm>
          <a:prstGeom prst="rect">
            <a:avLst/>
          </a:prstGeom>
        </p:spPr>
      </p:pic>
      <p:pic>
        <p:nvPicPr>
          <p:cNvPr id="5" name="Image 1" descr="preencoded.png">    </p:cNvPr>
          <p:cNvPicPr>
            <a:picLocks noChangeAspect="1"/>
          </p:cNvPicPr>
          <p:nvPr/>
        </p:nvPicPr>
        <p:blipFill>
          <a:blip r:embed="rId2"/>
          <a:stretch>
            <a:fillRect/>
          </a:stretch>
        </p:blipFill>
        <p:spPr>
          <a:xfrm>
            <a:off x="4608576" y="694944"/>
            <a:ext cx="4279392" cy="2286000"/>
          </a:xfrm>
          <a:prstGeom prst="rect">
            <a:avLst/>
          </a:prstGeom>
        </p:spPr>
      </p:pic>
      <p:pic>
        <p:nvPicPr>
          <p:cNvPr id="6" name="Image 2" descr="preencoded.png">    </p:cNvPr>
          <p:cNvPicPr>
            <a:picLocks noChangeAspect="1"/>
          </p:cNvPicPr>
          <p:nvPr/>
        </p:nvPicPr>
        <p:blipFill>
          <a:blip r:embed="rId3"/>
          <a:stretch>
            <a:fillRect/>
          </a:stretch>
        </p:blipFill>
        <p:spPr>
          <a:xfrm>
            <a:off x="256032" y="3035808"/>
            <a:ext cx="4315968" cy="1700784"/>
          </a:xfrm>
          <a:prstGeom prst="rect">
            <a:avLst/>
          </a:prstGeom>
        </p:spPr>
      </p:pic>
      <p:pic>
        <p:nvPicPr>
          <p:cNvPr id="7" name="Image 3" descr="preencoded.png">    </p:cNvPr>
          <p:cNvPicPr>
            <a:picLocks noChangeAspect="1"/>
          </p:cNvPicPr>
          <p:nvPr/>
        </p:nvPicPr>
        <p:blipFill>
          <a:blip r:embed="rId4"/>
          <a:stretch>
            <a:fillRect/>
          </a:stretch>
        </p:blipFill>
        <p:spPr>
          <a:xfrm>
            <a:off x="4608576" y="3035808"/>
            <a:ext cx="4279392" cy="1700784"/>
          </a:xfrm>
          <a:prstGeom prst="rect">
            <a:avLst/>
          </a:prstGeom>
        </p:spPr>
      </p:pic>
      <p:sp>
        <p:nvSpPr>
          <p:cNvPr id="8" name="Text 2"/>
          <p:cNvSpPr/>
          <p:nvPr/>
        </p:nvSpPr>
        <p:spPr>
          <a:xfrm>
            <a:off x="256032" y="2962656"/>
            <a:ext cx="4315968" cy="146304"/>
          </a:xfrm>
          <a:prstGeom prst="rect">
            <a:avLst/>
          </a:prstGeom>
          <a:noFill/>
          <a:ln/>
        </p:spPr>
        <p:txBody>
          <a:bodyPr wrap="square"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Revenue mix: BRSR FY23, Table 16</a:t>
            </a:r>
            <a:endParaRPr lang="en-US" sz="800" dirty="0"/>
          </a:p>
        </p:txBody>
      </p:sp>
      <p:sp>
        <p:nvSpPr>
          <p:cNvPr id="9" name="Text 3"/>
          <p:cNvSpPr/>
          <p:nvPr/>
        </p:nvSpPr>
        <p:spPr>
          <a:xfrm>
            <a:off x="4608576" y="2962656"/>
            <a:ext cx="4279392" cy="146304"/>
          </a:xfrm>
          <a:prstGeom prst="rect">
            <a:avLst/>
          </a:prstGeom>
          <a:noFill/>
          <a:ln/>
        </p:spPr>
        <p:txBody>
          <a:bodyPr wrap="square"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Funding: Tracxn — $38.6M | ₹439 Cr</a:t>
            </a:r>
            <a:endParaRPr lang="en-US" sz="800" dirty="0"/>
          </a:p>
        </p:txBody>
      </p:sp>
      <p:sp>
        <p:nvSpPr>
          <p:cNvPr id="10" name="Text 4"/>
          <p:cNvSpPr/>
          <p:nvPr/>
        </p:nvSpPr>
        <p:spPr>
          <a:xfrm>
            <a:off x="256032" y="4718304"/>
            <a:ext cx="4315968" cy="146304"/>
          </a:xfrm>
          <a:prstGeom prst="rect">
            <a:avLst/>
          </a:prstGeom>
          <a:noFill/>
          <a:ln/>
        </p:spPr>
        <p:txBody>
          <a:bodyPr wrap="square"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ML Model A: K-Means — Picker Formalization (synthetic, calibrated to IFC)</a:t>
            </a:r>
            <a:endParaRPr lang="en-US" sz="800" dirty="0"/>
          </a:p>
        </p:txBody>
      </p:sp>
      <p:sp>
        <p:nvSpPr>
          <p:cNvPr id="11" name="Text 5"/>
          <p:cNvSpPr/>
          <p:nvPr/>
        </p:nvSpPr>
        <p:spPr>
          <a:xfrm>
            <a:off x="4608576" y="4718304"/>
            <a:ext cx="4279392" cy="146304"/>
          </a:xfrm>
          <a:prstGeom prst="rect">
            <a:avLst/>
          </a:prstGeom>
          <a:noFill/>
          <a:ln/>
        </p:spPr>
        <p:txBody>
          <a:bodyPr wrap="square"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ML Model B: EPR Compliance Gap Predictor — R²=0.595 (synthetic data, methodology demo)</a:t>
            </a:r>
            <a:endParaRPr lang="en-US" sz="800" dirty="0"/>
          </a:p>
        </p:txBody>
      </p:sp>
      <p:sp>
        <p:nvSpPr>
          <p:cNvPr id="12" name="Shape 6"/>
          <p:cNvSpPr/>
          <p:nvPr/>
        </p:nvSpPr>
        <p:spPr>
          <a:xfrm>
            <a:off x="0" y="4846320"/>
            <a:ext cx="9144000" cy="292608"/>
          </a:xfrm>
          <a:prstGeom prst="rect">
            <a:avLst/>
          </a:prstGeom>
          <a:solidFill>
            <a:srgbClr val="1B3A1C"/>
          </a:solidFill>
          <a:ln/>
        </p:spPr>
      </p:sp>
      <p:sp>
        <p:nvSpPr>
          <p:cNvPr id="13" name="Text 7"/>
          <p:cNvSpPr/>
          <p:nvPr/>
        </p:nvSpPr>
        <p:spPr>
          <a:xfrm>
            <a:off x="274320" y="4864608"/>
            <a:ext cx="8595360" cy="237744"/>
          </a:xfrm>
          <a:prstGeom prst="rect">
            <a:avLst/>
          </a:prstGeom>
          <a:noFill/>
          <a:ln/>
        </p:spPr>
        <p:txBody>
          <a:bodyPr wrap="square" rtlCol="0" anchor="ctr"/>
          <a:lstStyle/>
          <a:p>
            <a:pPr algn="ctr" indent="0" marL="0">
              <a:buNone/>
            </a:pPr>
            <a:r>
              <a:rPr lang="en-US" sz="750" dirty="0">
                <a:solidFill>
                  <a:srgbClr val="97BC62"/>
                </a:solidFill>
                <a:latin typeface="Calibri" pitchFamily="34" charset="0"/>
                <a:ea typeface="Calibri" pitchFamily="34" charset="-122"/>
                <a:cs typeface="Calibri" pitchFamily="34" charset="-120"/>
              </a:rPr>
              <a:t>Himanshu Rai  |  Roll XW013-25  |  EMBA 2025 Winter  |  IIM Ranchi  |  ENT + WAI Project  |  Data: NEPRA BRSR + GHG Reports FY2022-23</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3"/>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2C5F2D"/>
          </a:solidFill>
          <a:ln/>
        </p:spPr>
      </p:sp>
      <p:sp>
        <p:nvSpPr>
          <p:cNvPr id="3" name="Text 1"/>
          <p:cNvSpPr/>
          <p:nvPr/>
        </p:nvSpPr>
        <p:spPr>
          <a:xfrm>
            <a:off x="365760" y="91440"/>
            <a:ext cx="8412480" cy="45720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WAI METHODOLOGY — AI Tools, Data Sources &amp; Ethical Controls</a:t>
            </a:r>
            <a:endParaRPr lang="en-US" sz="1700" dirty="0"/>
          </a:p>
        </p:txBody>
      </p:sp>
      <p:sp>
        <p:nvSpPr>
          <p:cNvPr id="4" name="Shape 2"/>
          <p:cNvSpPr/>
          <p:nvPr/>
        </p:nvSpPr>
        <p:spPr>
          <a:xfrm>
            <a:off x="256032" y="713232"/>
            <a:ext cx="19812000" cy="329184"/>
          </a:xfrm>
          <a:prstGeom prst="rect">
            <a:avLst/>
          </a:prstGeom>
          <a:solidFill>
            <a:srgbClr val="1B3A1C"/>
          </a:solidFill>
          <a:ln/>
        </p:spPr>
      </p:sp>
      <p:sp>
        <p:nvSpPr>
          <p:cNvPr id="5" name="Text 3"/>
          <p:cNvSpPr/>
          <p:nvPr/>
        </p:nvSpPr>
        <p:spPr>
          <a:xfrm>
            <a:off x="292608" y="749808"/>
            <a:ext cx="19738848"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Tool / Source</a:t>
            </a:r>
            <a:endParaRPr lang="en-US" sz="1000" dirty="0"/>
          </a:p>
        </p:txBody>
      </p:sp>
      <p:sp>
        <p:nvSpPr>
          <p:cNvPr id="6" name="Shape 4"/>
          <p:cNvSpPr/>
          <p:nvPr/>
        </p:nvSpPr>
        <p:spPr>
          <a:xfrm>
            <a:off x="20068032" y="713232"/>
            <a:ext cx="38608000" cy="329184"/>
          </a:xfrm>
          <a:prstGeom prst="rect">
            <a:avLst/>
          </a:prstGeom>
          <a:solidFill>
            <a:srgbClr val="1B3A1C"/>
          </a:solidFill>
          <a:ln/>
        </p:spPr>
      </p:sp>
      <p:sp>
        <p:nvSpPr>
          <p:cNvPr id="7" name="Text 5"/>
          <p:cNvSpPr/>
          <p:nvPr/>
        </p:nvSpPr>
        <p:spPr>
          <a:xfrm>
            <a:off x="20104608" y="749808"/>
            <a:ext cx="38534848"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Role in Project</a:t>
            </a:r>
            <a:endParaRPr lang="en-US" sz="1000" dirty="0"/>
          </a:p>
        </p:txBody>
      </p:sp>
      <p:sp>
        <p:nvSpPr>
          <p:cNvPr id="8" name="Shape 6"/>
          <p:cNvSpPr/>
          <p:nvPr/>
        </p:nvSpPr>
        <p:spPr>
          <a:xfrm>
            <a:off x="58676032" y="713232"/>
            <a:ext cx="60452000" cy="329184"/>
          </a:xfrm>
          <a:prstGeom prst="rect">
            <a:avLst/>
          </a:prstGeom>
          <a:solidFill>
            <a:srgbClr val="1B3A1C"/>
          </a:solidFill>
          <a:ln/>
        </p:spPr>
      </p:sp>
      <p:sp>
        <p:nvSpPr>
          <p:cNvPr id="9" name="Text 7"/>
          <p:cNvSpPr/>
          <p:nvPr/>
        </p:nvSpPr>
        <p:spPr>
          <a:xfrm>
            <a:off x="58712608" y="749808"/>
            <a:ext cx="60378848"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Ethical Control Applied</a:t>
            </a:r>
            <a:endParaRPr lang="en-US" sz="1000" dirty="0"/>
          </a:p>
        </p:txBody>
      </p:sp>
      <p:sp>
        <p:nvSpPr>
          <p:cNvPr id="10" name="Shape 8"/>
          <p:cNvSpPr/>
          <p:nvPr/>
        </p:nvSpPr>
        <p:spPr>
          <a:xfrm>
            <a:off x="274320" y="1078992"/>
            <a:ext cx="19775424" cy="320040"/>
          </a:xfrm>
          <a:prstGeom prst="rect">
            <a:avLst/>
          </a:prstGeom>
          <a:solidFill>
            <a:srgbClr val="F8FBF8"/>
          </a:solidFill>
          <a:ln/>
        </p:spPr>
      </p:sp>
      <p:sp>
        <p:nvSpPr>
          <p:cNvPr id="11" name="Text 9"/>
          <p:cNvSpPr/>
          <p:nvPr/>
        </p:nvSpPr>
        <p:spPr>
          <a:xfrm>
            <a:off x="310896" y="1115568"/>
            <a:ext cx="1970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Claude (Anthropic)</a:t>
            </a:r>
            <a:endParaRPr lang="en-US" sz="900" dirty="0"/>
          </a:p>
        </p:txBody>
      </p:sp>
      <p:sp>
        <p:nvSpPr>
          <p:cNvPr id="12" name="Shape 10"/>
          <p:cNvSpPr/>
          <p:nvPr/>
        </p:nvSpPr>
        <p:spPr>
          <a:xfrm>
            <a:off x="20086320" y="1078992"/>
            <a:ext cx="38571424" cy="320040"/>
          </a:xfrm>
          <a:prstGeom prst="rect">
            <a:avLst/>
          </a:prstGeom>
          <a:solidFill>
            <a:srgbClr val="F8FBF8"/>
          </a:solidFill>
          <a:ln/>
        </p:spPr>
      </p:sp>
      <p:sp>
        <p:nvSpPr>
          <p:cNvPr id="13" name="Text 11"/>
          <p:cNvSpPr/>
          <p:nvPr/>
        </p:nvSpPr>
        <p:spPr>
          <a:xfrm>
            <a:off x="20122896" y="1115568"/>
            <a:ext cx="38498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BRSR/GHG parsing; problem framing; report drafting; EPR regulation synthesis</a:t>
            </a:r>
            <a:endParaRPr lang="en-US" sz="900" dirty="0"/>
          </a:p>
        </p:txBody>
      </p:sp>
      <p:sp>
        <p:nvSpPr>
          <p:cNvPr id="14" name="Shape 12"/>
          <p:cNvSpPr/>
          <p:nvPr/>
        </p:nvSpPr>
        <p:spPr>
          <a:xfrm>
            <a:off x="58694320" y="1078992"/>
            <a:ext cx="60415424" cy="320040"/>
          </a:xfrm>
          <a:prstGeom prst="rect">
            <a:avLst/>
          </a:prstGeom>
          <a:solidFill>
            <a:srgbClr val="F8FBF8"/>
          </a:solidFill>
          <a:ln/>
        </p:spPr>
      </p:sp>
      <p:sp>
        <p:nvSpPr>
          <p:cNvPr id="15" name="Text 13"/>
          <p:cNvSpPr/>
          <p:nvPr/>
        </p:nvSpPr>
        <p:spPr>
          <a:xfrm>
            <a:off x="58730896" y="1115568"/>
            <a:ext cx="6034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All outputs verified against primary sources</a:t>
            </a:r>
            <a:endParaRPr lang="en-US" sz="900" dirty="0"/>
          </a:p>
        </p:txBody>
      </p:sp>
      <p:sp>
        <p:nvSpPr>
          <p:cNvPr id="16" name="Shape 14"/>
          <p:cNvSpPr/>
          <p:nvPr/>
        </p:nvSpPr>
        <p:spPr>
          <a:xfrm>
            <a:off x="274320" y="1417320"/>
            <a:ext cx="19775424" cy="320040"/>
          </a:xfrm>
          <a:prstGeom prst="rect">
            <a:avLst/>
          </a:prstGeom>
          <a:solidFill>
            <a:srgbClr val="FFFFFF"/>
          </a:solidFill>
          <a:ln/>
        </p:spPr>
      </p:sp>
      <p:sp>
        <p:nvSpPr>
          <p:cNvPr id="17" name="Text 15"/>
          <p:cNvSpPr/>
          <p:nvPr/>
        </p:nvSpPr>
        <p:spPr>
          <a:xfrm>
            <a:off x="310896" y="1453896"/>
            <a:ext cx="1970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Python — scikit-learn</a:t>
            </a:r>
            <a:endParaRPr lang="en-US" sz="900" dirty="0"/>
          </a:p>
        </p:txBody>
      </p:sp>
      <p:sp>
        <p:nvSpPr>
          <p:cNvPr id="18" name="Shape 16"/>
          <p:cNvSpPr/>
          <p:nvPr/>
        </p:nvSpPr>
        <p:spPr>
          <a:xfrm>
            <a:off x="20086320" y="1417320"/>
            <a:ext cx="38571424" cy="320040"/>
          </a:xfrm>
          <a:prstGeom prst="rect">
            <a:avLst/>
          </a:prstGeom>
          <a:solidFill>
            <a:srgbClr val="FFFFFF"/>
          </a:solidFill>
          <a:ln/>
        </p:spPr>
      </p:sp>
      <p:sp>
        <p:nvSpPr>
          <p:cNvPr id="19" name="Text 17"/>
          <p:cNvSpPr/>
          <p:nvPr/>
        </p:nvSpPr>
        <p:spPr>
          <a:xfrm>
            <a:off x="20122896" y="1453896"/>
            <a:ext cx="38498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K-Means picker clustering; linear regression EPR predictor</a:t>
            </a:r>
            <a:endParaRPr lang="en-US" sz="900" dirty="0"/>
          </a:p>
        </p:txBody>
      </p:sp>
      <p:sp>
        <p:nvSpPr>
          <p:cNvPr id="20" name="Shape 18"/>
          <p:cNvSpPr/>
          <p:nvPr/>
        </p:nvSpPr>
        <p:spPr>
          <a:xfrm>
            <a:off x="58694320" y="1417320"/>
            <a:ext cx="60415424" cy="320040"/>
          </a:xfrm>
          <a:prstGeom prst="rect">
            <a:avLst/>
          </a:prstGeom>
          <a:solidFill>
            <a:srgbClr val="FFFFFF"/>
          </a:solidFill>
          <a:ln/>
        </p:spPr>
      </p:sp>
      <p:sp>
        <p:nvSpPr>
          <p:cNvPr id="21" name="Text 19"/>
          <p:cNvSpPr/>
          <p:nvPr/>
        </p:nvSpPr>
        <p:spPr>
          <a:xfrm>
            <a:off x="58730896" y="1453896"/>
            <a:ext cx="6034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Synthetic inputs labeled ⚠; model methodology explained</a:t>
            </a:r>
            <a:endParaRPr lang="en-US" sz="900" dirty="0"/>
          </a:p>
        </p:txBody>
      </p:sp>
      <p:sp>
        <p:nvSpPr>
          <p:cNvPr id="22" name="Shape 20"/>
          <p:cNvSpPr/>
          <p:nvPr/>
        </p:nvSpPr>
        <p:spPr>
          <a:xfrm>
            <a:off x="274320" y="1755648"/>
            <a:ext cx="19775424" cy="320040"/>
          </a:xfrm>
          <a:prstGeom prst="rect">
            <a:avLst/>
          </a:prstGeom>
          <a:solidFill>
            <a:srgbClr val="F8FBF8"/>
          </a:solidFill>
          <a:ln/>
        </p:spPr>
      </p:sp>
      <p:sp>
        <p:nvSpPr>
          <p:cNvPr id="23" name="Text 21"/>
          <p:cNvSpPr/>
          <p:nvPr/>
        </p:nvSpPr>
        <p:spPr>
          <a:xfrm>
            <a:off x="310896" y="1792224"/>
            <a:ext cx="1970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Python — matplotlib</a:t>
            </a:r>
            <a:endParaRPr lang="en-US" sz="900" dirty="0"/>
          </a:p>
        </p:txBody>
      </p:sp>
      <p:sp>
        <p:nvSpPr>
          <p:cNvPr id="24" name="Shape 22"/>
          <p:cNvSpPr/>
          <p:nvPr/>
        </p:nvSpPr>
        <p:spPr>
          <a:xfrm>
            <a:off x="20086320" y="1755648"/>
            <a:ext cx="38571424" cy="320040"/>
          </a:xfrm>
          <a:prstGeom prst="rect">
            <a:avLst/>
          </a:prstGeom>
          <a:solidFill>
            <a:srgbClr val="F8FBF8"/>
          </a:solidFill>
          <a:ln/>
        </p:spPr>
      </p:sp>
      <p:sp>
        <p:nvSpPr>
          <p:cNvPr id="25" name="Text 23"/>
          <p:cNvSpPr/>
          <p:nvPr/>
        </p:nvSpPr>
        <p:spPr>
          <a:xfrm>
            <a:off x="20122896" y="1792224"/>
            <a:ext cx="38498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All 9 visualisations</a:t>
            </a:r>
            <a:endParaRPr lang="en-US" sz="900" dirty="0"/>
          </a:p>
        </p:txBody>
      </p:sp>
      <p:sp>
        <p:nvSpPr>
          <p:cNvPr id="26" name="Shape 24"/>
          <p:cNvSpPr/>
          <p:nvPr/>
        </p:nvSpPr>
        <p:spPr>
          <a:xfrm>
            <a:off x="58694320" y="1755648"/>
            <a:ext cx="60415424" cy="320040"/>
          </a:xfrm>
          <a:prstGeom prst="rect">
            <a:avLst/>
          </a:prstGeom>
          <a:solidFill>
            <a:srgbClr val="F8FBF8"/>
          </a:solidFill>
          <a:ln/>
        </p:spPr>
      </p:sp>
      <p:sp>
        <p:nvSpPr>
          <p:cNvPr id="27" name="Text 25"/>
          <p:cNvSpPr/>
          <p:nvPr/>
        </p:nvSpPr>
        <p:spPr>
          <a:xfrm>
            <a:off x="58730896" y="1792224"/>
            <a:ext cx="6034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Every chart has source citation in caption</a:t>
            </a:r>
            <a:endParaRPr lang="en-US" sz="900" dirty="0"/>
          </a:p>
        </p:txBody>
      </p:sp>
      <p:sp>
        <p:nvSpPr>
          <p:cNvPr id="28" name="Shape 26"/>
          <p:cNvSpPr/>
          <p:nvPr/>
        </p:nvSpPr>
        <p:spPr>
          <a:xfrm>
            <a:off x="274320" y="2093976"/>
            <a:ext cx="19775424" cy="320040"/>
          </a:xfrm>
          <a:prstGeom prst="rect">
            <a:avLst/>
          </a:prstGeom>
          <a:solidFill>
            <a:srgbClr val="FFFFFF"/>
          </a:solidFill>
          <a:ln/>
        </p:spPr>
      </p:sp>
      <p:sp>
        <p:nvSpPr>
          <p:cNvPr id="29" name="Text 27"/>
          <p:cNvSpPr/>
          <p:nvPr/>
        </p:nvSpPr>
        <p:spPr>
          <a:xfrm>
            <a:off x="310896" y="2130552"/>
            <a:ext cx="1970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Python — pandas/numpy</a:t>
            </a:r>
            <a:endParaRPr lang="en-US" sz="900" dirty="0"/>
          </a:p>
        </p:txBody>
      </p:sp>
      <p:sp>
        <p:nvSpPr>
          <p:cNvPr id="30" name="Shape 28"/>
          <p:cNvSpPr/>
          <p:nvPr/>
        </p:nvSpPr>
        <p:spPr>
          <a:xfrm>
            <a:off x="20086320" y="2093976"/>
            <a:ext cx="38571424" cy="320040"/>
          </a:xfrm>
          <a:prstGeom prst="rect">
            <a:avLst/>
          </a:prstGeom>
          <a:solidFill>
            <a:srgbClr val="FFFFFF"/>
          </a:solidFill>
          <a:ln/>
        </p:spPr>
      </p:sp>
      <p:sp>
        <p:nvSpPr>
          <p:cNvPr id="31" name="Text 29"/>
          <p:cNvSpPr/>
          <p:nvPr/>
        </p:nvSpPr>
        <p:spPr>
          <a:xfrm>
            <a:off x="20122896" y="2130552"/>
            <a:ext cx="38498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Data structuring; CSV export with source column</a:t>
            </a:r>
            <a:endParaRPr lang="en-US" sz="900" dirty="0"/>
          </a:p>
        </p:txBody>
      </p:sp>
      <p:sp>
        <p:nvSpPr>
          <p:cNvPr id="32" name="Shape 30"/>
          <p:cNvSpPr/>
          <p:nvPr/>
        </p:nvSpPr>
        <p:spPr>
          <a:xfrm>
            <a:off x="58694320" y="2093976"/>
            <a:ext cx="60415424" cy="320040"/>
          </a:xfrm>
          <a:prstGeom prst="rect">
            <a:avLst/>
          </a:prstGeom>
          <a:solidFill>
            <a:srgbClr val="FFFFFF"/>
          </a:solidFill>
          <a:ln/>
        </p:spPr>
      </p:sp>
      <p:sp>
        <p:nvSpPr>
          <p:cNvPr id="33" name="Text 31"/>
          <p:cNvSpPr/>
          <p:nvPr/>
        </p:nvSpPr>
        <p:spPr>
          <a:xfrm>
            <a:off x="58730896" y="2130552"/>
            <a:ext cx="6034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Transparency CSV submitted alongside code</a:t>
            </a:r>
            <a:endParaRPr lang="en-US" sz="900" dirty="0"/>
          </a:p>
        </p:txBody>
      </p:sp>
      <p:sp>
        <p:nvSpPr>
          <p:cNvPr id="34" name="Shape 32"/>
          <p:cNvSpPr/>
          <p:nvPr/>
        </p:nvSpPr>
        <p:spPr>
          <a:xfrm>
            <a:off x="274320" y="2432304"/>
            <a:ext cx="19775424" cy="320040"/>
          </a:xfrm>
          <a:prstGeom prst="rect">
            <a:avLst/>
          </a:prstGeom>
          <a:solidFill>
            <a:srgbClr val="F8FBF8"/>
          </a:solidFill>
          <a:ln/>
        </p:spPr>
      </p:sp>
      <p:sp>
        <p:nvSpPr>
          <p:cNvPr id="35" name="Text 33"/>
          <p:cNvSpPr/>
          <p:nvPr/>
        </p:nvSpPr>
        <p:spPr>
          <a:xfrm>
            <a:off x="310896" y="2468880"/>
            <a:ext cx="1970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NEPRA BRSR FY23 (PDF)</a:t>
            </a:r>
            <a:endParaRPr lang="en-US" sz="900" dirty="0"/>
          </a:p>
        </p:txBody>
      </p:sp>
      <p:sp>
        <p:nvSpPr>
          <p:cNvPr id="36" name="Shape 34"/>
          <p:cNvSpPr/>
          <p:nvPr/>
        </p:nvSpPr>
        <p:spPr>
          <a:xfrm>
            <a:off x="20086320" y="2432304"/>
            <a:ext cx="38571424" cy="320040"/>
          </a:xfrm>
          <a:prstGeom prst="rect">
            <a:avLst/>
          </a:prstGeom>
          <a:solidFill>
            <a:srgbClr val="F8FBF8"/>
          </a:solidFill>
          <a:ln/>
        </p:spPr>
      </p:sp>
      <p:sp>
        <p:nvSpPr>
          <p:cNvPr id="37" name="Text 35"/>
          <p:cNvSpPr/>
          <p:nvPr/>
        </p:nvSpPr>
        <p:spPr>
          <a:xfrm>
            <a:off x="20122896" y="2468880"/>
            <a:ext cx="38498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Primary data: Tables 16, 19, 20, 22</a:t>
            </a:r>
            <a:endParaRPr lang="en-US" sz="900" dirty="0"/>
          </a:p>
        </p:txBody>
      </p:sp>
      <p:sp>
        <p:nvSpPr>
          <p:cNvPr id="38" name="Shape 36"/>
          <p:cNvSpPr/>
          <p:nvPr/>
        </p:nvSpPr>
        <p:spPr>
          <a:xfrm>
            <a:off x="58694320" y="2432304"/>
            <a:ext cx="60415424" cy="320040"/>
          </a:xfrm>
          <a:prstGeom prst="rect">
            <a:avLst/>
          </a:prstGeom>
          <a:solidFill>
            <a:srgbClr val="F8FBF8"/>
          </a:solidFill>
          <a:ln/>
        </p:spPr>
      </p:sp>
      <p:sp>
        <p:nvSpPr>
          <p:cNvPr id="39" name="Text 37"/>
          <p:cNvSpPr/>
          <p:nvPr/>
        </p:nvSpPr>
        <p:spPr>
          <a:xfrm>
            <a:off x="58730896" y="2468880"/>
            <a:ext cx="6034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Official document — URL verified</a:t>
            </a:r>
            <a:endParaRPr lang="en-US" sz="900" dirty="0"/>
          </a:p>
        </p:txBody>
      </p:sp>
      <p:sp>
        <p:nvSpPr>
          <p:cNvPr id="40" name="Shape 38"/>
          <p:cNvSpPr/>
          <p:nvPr/>
        </p:nvSpPr>
        <p:spPr>
          <a:xfrm>
            <a:off x="274320" y="2770632"/>
            <a:ext cx="19775424" cy="320040"/>
          </a:xfrm>
          <a:prstGeom prst="rect">
            <a:avLst/>
          </a:prstGeom>
          <a:solidFill>
            <a:srgbClr val="FFFFFF"/>
          </a:solidFill>
          <a:ln/>
        </p:spPr>
      </p:sp>
      <p:sp>
        <p:nvSpPr>
          <p:cNvPr id="41" name="Text 39"/>
          <p:cNvSpPr/>
          <p:nvPr/>
        </p:nvSpPr>
        <p:spPr>
          <a:xfrm>
            <a:off x="310896" y="2807208"/>
            <a:ext cx="1970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NEPRA GHG Report FY23</a:t>
            </a:r>
            <a:endParaRPr lang="en-US" sz="900" dirty="0"/>
          </a:p>
        </p:txBody>
      </p:sp>
      <p:sp>
        <p:nvSpPr>
          <p:cNvPr id="42" name="Shape 40"/>
          <p:cNvSpPr/>
          <p:nvPr/>
        </p:nvSpPr>
        <p:spPr>
          <a:xfrm>
            <a:off x="20086320" y="2770632"/>
            <a:ext cx="38571424" cy="320040"/>
          </a:xfrm>
          <a:prstGeom prst="rect">
            <a:avLst/>
          </a:prstGeom>
          <a:solidFill>
            <a:srgbClr val="FFFFFF"/>
          </a:solidFill>
          <a:ln/>
        </p:spPr>
      </p:sp>
      <p:sp>
        <p:nvSpPr>
          <p:cNvPr id="43" name="Text 41"/>
          <p:cNvSpPr/>
          <p:nvPr/>
        </p:nvSpPr>
        <p:spPr>
          <a:xfrm>
            <a:off x="20122896" y="2807208"/>
            <a:ext cx="38498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GHG figures; MRF city-wise capacities</a:t>
            </a:r>
            <a:endParaRPr lang="en-US" sz="900" dirty="0"/>
          </a:p>
        </p:txBody>
      </p:sp>
      <p:sp>
        <p:nvSpPr>
          <p:cNvPr id="44" name="Shape 42"/>
          <p:cNvSpPr/>
          <p:nvPr/>
        </p:nvSpPr>
        <p:spPr>
          <a:xfrm>
            <a:off x="58694320" y="2770632"/>
            <a:ext cx="60415424" cy="320040"/>
          </a:xfrm>
          <a:prstGeom prst="rect">
            <a:avLst/>
          </a:prstGeom>
          <a:solidFill>
            <a:srgbClr val="FFFFFF"/>
          </a:solidFill>
          <a:ln/>
        </p:spPr>
      </p:sp>
      <p:sp>
        <p:nvSpPr>
          <p:cNvPr id="45" name="Text 43"/>
          <p:cNvSpPr/>
          <p:nvPr/>
        </p:nvSpPr>
        <p:spPr>
          <a:xfrm>
            <a:off x="58730896" y="2807208"/>
            <a:ext cx="6034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Official document — URL verified</a:t>
            </a:r>
            <a:endParaRPr lang="en-US" sz="900" dirty="0"/>
          </a:p>
        </p:txBody>
      </p:sp>
      <p:sp>
        <p:nvSpPr>
          <p:cNvPr id="46" name="Shape 44"/>
          <p:cNvSpPr/>
          <p:nvPr/>
        </p:nvSpPr>
        <p:spPr>
          <a:xfrm>
            <a:off x="274320" y="3108960"/>
            <a:ext cx="19775424" cy="320040"/>
          </a:xfrm>
          <a:prstGeom prst="rect">
            <a:avLst/>
          </a:prstGeom>
          <a:solidFill>
            <a:srgbClr val="F8FBF8"/>
          </a:solidFill>
          <a:ln/>
        </p:spPr>
      </p:sp>
      <p:sp>
        <p:nvSpPr>
          <p:cNvPr id="47" name="Text 45"/>
          <p:cNvSpPr/>
          <p:nvPr/>
        </p:nvSpPr>
        <p:spPr>
          <a:xfrm>
            <a:off x="310896" y="3145536"/>
            <a:ext cx="1970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IFC Case Study 2023</a:t>
            </a:r>
            <a:endParaRPr lang="en-US" sz="900" dirty="0"/>
          </a:p>
        </p:txBody>
      </p:sp>
      <p:sp>
        <p:nvSpPr>
          <p:cNvPr id="48" name="Shape 46"/>
          <p:cNvSpPr/>
          <p:nvPr/>
        </p:nvSpPr>
        <p:spPr>
          <a:xfrm>
            <a:off x="20086320" y="3108960"/>
            <a:ext cx="38571424" cy="320040"/>
          </a:xfrm>
          <a:prstGeom prst="rect">
            <a:avLst/>
          </a:prstGeom>
          <a:solidFill>
            <a:srgbClr val="F8FBF8"/>
          </a:solidFill>
          <a:ln/>
        </p:spPr>
      </p:sp>
      <p:sp>
        <p:nvSpPr>
          <p:cNvPr id="49" name="Text 47"/>
          <p:cNvSpPr/>
          <p:nvPr/>
        </p:nvSpPr>
        <p:spPr>
          <a:xfrm>
            <a:off x="20122896" y="3145536"/>
            <a:ext cx="38498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Picker survey data (78%, 48%, 45%, 36%, 32%)</a:t>
            </a:r>
            <a:endParaRPr lang="en-US" sz="900" dirty="0"/>
          </a:p>
        </p:txBody>
      </p:sp>
      <p:sp>
        <p:nvSpPr>
          <p:cNvPr id="50" name="Shape 48"/>
          <p:cNvSpPr/>
          <p:nvPr/>
        </p:nvSpPr>
        <p:spPr>
          <a:xfrm>
            <a:off x="58694320" y="3108960"/>
            <a:ext cx="60415424" cy="320040"/>
          </a:xfrm>
          <a:prstGeom prst="rect">
            <a:avLst/>
          </a:prstGeom>
          <a:solidFill>
            <a:srgbClr val="F8FBF8"/>
          </a:solidFill>
          <a:ln/>
        </p:spPr>
      </p:sp>
      <p:sp>
        <p:nvSpPr>
          <p:cNvPr id="51" name="Text 49"/>
          <p:cNvSpPr/>
          <p:nvPr/>
        </p:nvSpPr>
        <p:spPr>
          <a:xfrm>
            <a:off x="58730896" y="3145536"/>
            <a:ext cx="6034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IFC primary field research — not secondary</a:t>
            </a:r>
            <a:endParaRPr lang="en-US" sz="900" dirty="0"/>
          </a:p>
        </p:txBody>
      </p:sp>
      <p:sp>
        <p:nvSpPr>
          <p:cNvPr id="52" name="Shape 50"/>
          <p:cNvSpPr/>
          <p:nvPr/>
        </p:nvSpPr>
        <p:spPr>
          <a:xfrm>
            <a:off x="274320" y="3447288"/>
            <a:ext cx="19775424" cy="320040"/>
          </a:xfrm>
          <a:prstGeom prst="rect">
            <a:avLst/>
          </a:prstGeom>
          <a:solidFill>
            <a:srgbClr val="FFFFFF"/>
          </a:solidFill>
          <a:ln/>
        </p:spPr>
      </p:sp>
      <p:sp>
        <p:nvSpPr>
          <p:cNvPr id="53" name="Text 51"/>
          <p:cNvSpPr/>
          <p:nvPr/>
        </p:nvSpPr>
        <p:spPr>
          <a:xfrm>
            <a:off x="310896" y="3483864"/>
            <a:ext cx="1970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Tracxn Profile</a:t>
            </a:r>
            <a:endParaRPr lang="en-US" sz="900" dirty="0"/>
          </a:p>
        </p:txBody>
      </p:sp>
      <p:sp>
        <p:nvSpPr>
          <p:cNvPr id="54" name="Shape 52"/>
          <p:cNvSpPr/>
          <p:nvPr/>
        </p:nvSpPr>
        <p:spPr>
          <a:xfrm>
            <a:off x="20086320" y="3447288"/>
            <a:ext cx="38571424" cy="320040"/>
          </a:xfrm>
          <a:prstGeom prst="rect">
            <a:avLst/>
          </a:prstGeom>
          <a:solidFill>
            <a:srgbClr val="FFFFFF"/>
          </a:solidFill>
          <a:ln/>
        </p:spPr>
      </p:sp>
      <p:sp>
        <p:nvSpPr>
          <p:cNvPr id="55" name="Text 53"/>
          <p:cNvSpPr/>
          <p:nvPr/>
        </p:nvSpPr>
        <p:spPr>
          <a:xfrm>
            <a:off x="20122896" y="3483864"/>
            <a:ext cx="38498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Funding rounds, amounts, valuation</a:t>
            </a:r>
            <a:endParaRPr lang="en-US" sz="900" dirty="0"/>
          </a:p>
        </p:txBody>
      </p:sp>
      <p:sp>
        <p:nvSpPr>
          <p:cNvPr id="56" name="Shape 54"/>
          <p:cNvSpPr/>
          <p:nvPr/>
        </p:nvSpPr>
        <p:spPr>
          <a:xfrm>
            <a:off x="58694320" y="3447288"/>
            <a:ext cx="60415424" cy="320040"/>
          </a:xfrm>
          <a:prstGeom prst="rect">
            <a:avLst/>
          </a:prstGeom>
          <a:solidFill>
            <a:srgbClr val="FFFFFF"/>
          </a:solidFill>
          <a:ln/>
        </p:spPr>
      </p:sp>
      <p:sp>
        <p:nvSpPr>
          <p:cNvPr id="57" name="Text 55"/>
          <p:cNvSpPr/>
          <p:nvPr/>
        </p:nvSpPr>
        <p:spPr>
          <a:xfrm>
            <a:off x="58730896" y="3483864"/>
            <a:ext cx="60342272" cy="246888"/>
          </a:xfrm>
          <a:prstGeom prst="rect">
            <a:avLst/>
          </a:prstGeom>
          <a:noFill/>
          <a:ln/>
        </p:spPr>
        <p:txBody>
          <a:bodyPr wrap="square" rtlCol="0" anchor="ctr"/>
          <a:lstStyle/>
          <a:p>
            <a:pPr indent="0" marL="0">
              <a:buNone/>
            </a:pPr>
            <a:r>
              <a:rPr lang="en-US" sz="900" dirty="0">
                <a:solidFill>
                  <a:srgbClr val="2D3748"/>
                </a:solidFill>
                <a:latin typeface="Calibri" pitchFamily="34" charset="0"/>
                <a:ea typeface="Calibri" pitchFamily="34" charset="-122"/>
                <a:cs typeface="Calibri" pitchFamily="34" charset="-120"/>
              </a:rPr>
              <a:t>Verified company profile</a:t>
            </a:r>
            <a:endParaRPr lang="en-US" sz="900" dirty="0"/>
          </a:p>
        </p:txBody>
      </p:sp>
      <p:sp>
        <p:nvSpPr>
          <p:cNvPr id="58" name="Shape 56"/>
          <p:cNvSpPr/>
          <p:nvPr/>
        </p:nvSpPr>
        <p:spPr>
          <a:xfrm>
            <a:off x="256032" y="3858768"/>
            <a:ext cx="8631936" cy="731520"/>
          </a:xfrm>
          <a:prstGeom prst="rect">
            <a:avLst/>
          </a:prstGeom>
          <a:solidFill>
            <a:srgbClr val="D6EAD7"/>
          </a:solidFill>
          <a:ln/>
        </p:spPr>
      </p:sp>
      <p:sp>
        <p:nvSpPr>
          <p:cNvPr id="59" name="Text 57"/>
          <p:cNvSpPr/>
          <p:nvPr/>
        </p:nvSpPr>
        <p:spPr>
          <a:xfrm>
            <a:off x="365760" y="3913632"/>
            <a:ext cx="8412480" cy="621792"/>
          </a:xfrm>
          <a:prstGeom prst="rect">
            <a:avLst/>
          </a:prstGeom>
          <a:noFill/>
          <a:ln/>
        </p:spPr>
        <p:txBody>
          <a:bodyPr wrap="square" rtlCol="0" anchor="ctr"/>
          <a:lstStyle/>
          <a:p>
            <a:pPr indent="0" marL="0">
              <a:buNone/>
            </a:pPr>
            <a:r>
              <a:rPr lang="en-US" sz="950" dirty="0">
                <a:solidFill>
                  <a:srgbClr val="1B3A1C"/>
                </a:solidFill>
                <a:latin typeface="Calibri" pitchFamily="34" charset="0"/>
                <a:ea typeface="Calibri" pitchFamily="34" charset="-122"/>
                <a:cs typeface="Calibri" pitchFamily="34" charset="-120"/>
              </a:rPr>
              <a:t>⚠ Ethical Controls: (1) All factual claims verified against primary source  (2) Estimated data labeled ⚠ in every chart  (3) No personally identifiable picker/PIBO data used  (4) AI-generated text reviewed and corrected before use  (5) Full Prompt Logbook — 12 entries — in Report Annexure A</a:t>
            </a:r>
            <a:endParaRPr lang="en-US" sz="950" dirty="0"/>
          </a:p>
        </p:txBody>
      </p:sp>
      <p:sp>
        <p:nvSpPr>
          <p:cNvPr id="60" name="Shape 58"/>
          <p:cNvSpPr/>
          <p:nvPr/>
        </p:nvSpPr>
        <p:spPr>
          <a:xfrm>
            <a:off x="256032" y="4709160"/>
            <a:ext cx="8631936" cy="164592"/>
          </a:xfrm>
          <a:prstGeom prst="rect">
            <a:avLst/>
          </a:prstGeom>
          <a:solidFill>
            <a:srgbClr val="D6EAD7"/>
          </a:solidFill>
          <a:ln/>
        </p:spPr>
      </p:sp>
      <p:sp>
        <p:nvSpPr>
          <p:cNvPr id="61" name="Text 59"/>
          <p:cNvSpPr/>
          <p:nvPr/>
        </p:nvSpPr>
        <p:spPr>
          <a:xfrm>
            <a:off x="310896" y="4718304"/>
            <a:ext cx="8503920" cy="146304"/>
          </a:xfrm>
          <a:prstGeom prst="rect">
            <a:avLst/>
          </a:prstGeom>
          <a:noFill/>
          <a:ln/>
        </p:spPr>
        <p:txBody>
          <a:bodyPr wrap="square" rtlCol="0" anchor="ctr"/>
          <a:lstStyle/>
          <a:p>
            <a:pPr indent="0" marL="0">
              <a:buNone/>
            </a:pPr>
            <a:r>
              <a:rPr lang="en-US" sz="750" i="1" dirty="0">
                <a:solidFill>
                  <a:srgbClr val="1B3A1C"/>
                </a:solidFill>
                <a:latin typeface="Calibri" pitchFamily="34" charset="0"/>
                <a:ea typeface="Calibri" pitchFamily="34" charset="-122"/>
                <a:cs typeface="Calibri" pitchFamily="34" charset="-120"/>
              </a:rPr>
              <a:t>Source: IIM Ranchi WAI Policy  |  NEPRA Official Reports  |  NEPRA_WAI_Analysis_Final.py (submitted)</a:t>
            </a:r>
            <a:endParaRPr lang="en-US" sz="750" dirty="0"/>
          </a:p>
        </p:txBody>
      </p:sp>
      <p:sp>
        <p:nvSpPr>
          <p:cNvPr id="62" name="Shape 60"/>
          <p:cNvSpPr/>
          <p:nvPr/>
        </p:nvSpPr>
        <p:spPr>
          <a:xfrm>
            <a:off x="0" y="4846320"/>
            <a:ext cx="9144000" cy="292608"/>
          </a:xfrm>
          <a:prstGeom prst="rect">
            <a:avLst/>
          </a:prstGeom>
          <a:solidFill>
            <a:srgbClr val="1B3A1C"/>
          </a:solidFill>
          <a:ln/>
        </p:spPr>
      </p:sp>
      <p:sp>
        <p:nvSpPr>
          <p:cNvPr id="63" name="Text 61"/>
          <p:cNvSpPr/>
          <p:nvPr/>
        </p:nvSpPr>
        <p:spPr>
          <a:xfrm>
            <a:off x="274320" y="4864608"/>
            <a:ext cx="8595360" cy="237744"/>
          </a:xfrm>
          <a:prstGeom prst="rect">
            <a:avLst/>
          </a:prstGeom>
          <a:noFill/>
          <a:ln/>
        </p:spPr>
        <p:txBody>
          <a:bodyPr wrap="square" rtlCol="0" anchor="ctr"/>
          <a:lstStyle/>
          <a:p>
            <a:pPr algn="ctr" indent="0" marL="0">
              <a:buNone/>
            </a:pPr>
            <a:r>
              <a:rPr lang="en-US" sz="750" dirty="0">
                <a:solidFill>
                  <a:srgbClr val="97BC62"/>
                </a:solidFill>
                <a:latin typeface="Calibri" pitchFamily="34" charset="0"/>
                <a:ea typeface="Calibri" pitchFamily="34" charset="-122"/>
                <a:cs typeface="Calibri" pitchFamily="34" charset="-120"/>
              </a:rPr>
              <a:t>Himanshu Rai  |  Roll XW013-25  |  EMBA 2025 Winter  |  IIM Ranchi  |  ENT + WAI Project  |  Data: NEPRA BRSR + GHG Reports FY2022-23</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3A1C"/>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2C5F2D"/>
          </a:solidFill>
          <a:ln/>
        </p:spPr>
      </p:sp>
      <p:sp>
        <p:nvSpPr>
          <p:cNvPr id="3" name="Text 1"/>
          <p:cNvSpPr/>
          <p:nvPr/>
        </p:nvSpPr>
        <p:spPr>
          <a:xfrm>
            <a:off x="365760" y="91440"/>
            <a:ext cx="8412480" cy="438912"/>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STRATEGIC RECOMMENDATIONS  —  Grounded in BRSR &amp; GHG Report Operational Gaps</a:t>
            </a:r>
            <a:endParaRPr lang="en-US" sz="1700" dirty="0"/>
          </a:p>
        </p:txBody>
      </p:sp>
      <p:sp>
        <p:nvSpPr>
          <p:cNvPr id="4" name="Shape 2"/>
          <p:cNvSpPr/>
          <p:nvPr/>
        </p:nvSpPr>
        <p:spPr>
          <a:xfrm>
            <a:off x="246888" y="749808"/>
            <a:ext cx="4187952" cy="1865376"/>
          </a:xfrm>
          <a:prstGeom prst="rect">
            <a:avLst/>
          </a:prstGeom>
          <a:solidFill>
            <a:srgbClr val="1D2B1E"/>
          </a:solidFill>
          <a:ln/>
          <a:effectLst>
            <a:outerShdw sx="100000" sy="100000" kx="0" ky="0" algn="bl" rotWithShape="0" blurRad="63500" dist="25400" dir="8100000">
              <a:srgbClr val="000000">
                <a:alpha val="10000"/>
              </a:srgbClr>
            </a:outerShdw>
          </a:effectLst>
        </p:spPr>
      </p:sp>
      <p:sp>
        <p:nvSpPr>
          <p:cNvPr id="5" name="Shape 3"/>
          <p:cNvSpPr/>
          <p:nvPr/>
        </p:nvSpPr>
        <p:spPr>
          <a:xfrm>
            <a:off x="246888" y="749808"/>
            <a:ext cx="4187952" cy="457200"/>
          </a:xfrm>
          <a:prstGeom prst="rect">
            <a:avLst/>
          </a:prstGeom>
          <a:solidFill>
            <a:srgbClr val="97BC62"/>
          </a:solidFill>
          <a:ln/>
        </p:spPr>
      </p:sp>
      <p:sp>
        <p:nvSpPr>
          <p:cNvPr id="6" name="Text 4"/>
          <p:cNvSpPr/>
          <p:nvPr/>
        </p:nvSpPr>
        <p:spPr>
          <a:xfrm>
            <a:off x="338328" y="786384"/>
            <a:ext cx="402336" cy="384048"/>
          </a:xfrm>
          <a:prstGeom prst="rect">
            <a:avLst/>
          </a:prstGeom>
          <a:noFill/>
          <a:ln/>
        </p:spPr>
        <p:txBody>
          <a:bodyPr wrap="square" rtlCol="0" anchor="ctr"/>
          <a:lstStyle/>
          <a:p>
            <a:pPr indent="0" marL="0">
              <a:buNone/>
            </a:pPr>
            <a:r>
              <a:rPr lang="en-US" sz="1600" b="1" dirty="0">
                <a:solidFill>
                  <a:srgbClr val="1B3A1C"/>
                </a:solidFill>
                <a:latin typeface="Georgia" pitchFamily="34" charset="0"/>
                <a:ea typeface="Georgia" pitchFamily="34" charset="-122"/>
                <a:cs typeface="Georgia" pitchFamily="34" charset="-120"/>
              </a:rPr>
              <a:t>01</a:t>
            </a:r>
            <a:endParaRPr lang="en-US" sz="1600" dirty="0"/>
          </a:p>
        </p:txBody>
      </p:sp>
      <p:sp>
        <p:nvSpPr>
          <p:cNvPr id="7" name="Text 5"/>
          <p:cNvSpPr/>
          <p:nvPr/>
        </p:nvSpPr>
        <p:spPr>
          <a:xfrm>
            <a:off x="795528" y="786384"/>
            <a:ext cx="3566160" cy="384048"/>
          </a:xfrm>
          <a:prstGeom prst="rect">
            <a:avLst/>
          </a:prstGeom>
          <a:noFill/>
          <a:ln/>
        </p:spPr>
        <p:txBody>
          <a:bodyPr wrap="square" rtlCol="0" anchor="ctr"/>
          <a:lstStyle/>
          <a:p>
            <a:pPr indent="0" marL="0">
              <a:buNone/>
            </a:pPr>
            <a:r>
              <a:rPr lang="en-US" sz="1150" b="1" dirty="0">
                <a:solidFill>
                  <a:srgbClr val="1B3A1C"/>
                </a:solidFill>
                <a:latin typeface="Calibri" pitchFamily="34" charset="0"/>
                <a:ea typeface="Calibri" pitchFamily="34" charset="-122"/>
                <a:cs typeface="Calibri" pitchFamily="34" charset="-120"/>
              </a:rPr>
              <a:t>Universal Biometric</a:t>
            </a:r>
            <a:endParaRPr lang="en-US" sz="1150" dirty="0"/>
          </a:p>
          <a:p>
            <a:pPr indent="0" marL="0">
              <a:buNone/>
            </a:pPr>
            <a:r>
              <a:rPr lang="en-US" sz="1150" b="1" dirty="0">
                <a:solidFill>
                  <a:srgbClr val="1B3A1C"/>
                </a:solidFill>
                <a:latin typeface="Calibri" pitchFamily="34" charset="0"/>
                <a:ea typeface="Calibri" pitchFamily="34" charset="-122"/>
                <a:cs typeface="Calibri" pitchFamily="34" charset="-120"/>
              </a:rPr>
              <a:t>Rollout</a:t>
            </a:r>
            <a:endParaRPr lang="en-US" sz="1150" dirty="0"/>
          </a:p>
        </p:txBody>
      </p:sp>
      <p:sp>
        <p:nvSpPr>
          <p:cNvPr id="8" name="Text 6"/>
          <p:cNvSpPr/>
          <p:nvPr/>
        </p:nvSpPr>
        <p:spPr>
          <a:xfrm>
            <a:off x="338328" y="1243584"/>
            <a:ext cx="3931920" cy="1005840"/>
          </a:xfrm>
          <a:prstGeom prst="rect">
            <a:avLst/>
          </a:prstGeom>
          <a:noFill/>
          <a:ln/>
        </p:spPr>
        <p:txBody>
          <a:bodyPr wrap="square" rtlCol="0" anchor="ctr"/>
          <a:lstStyle/>
          <a:p>
            <a:pPr indent="0" marL="0">
              <a:buNone/>
            </a:pPr>
            <a:r>
              <a:rPr lang="en-US" sz="1050" dirty="0">
                <a:solidFill>
                  <a:srgbClr val="F4F8F3"/>
                </a:solidFill>
                <a:latin typeface="Calibri" pitchFamily="34" charset="0"/>
                <a:ea typeface="Calibri" pitchFamily="34" charset="-122"/>
                <a:cs typeface="Calibri" pitchFamily="34" charset="-120"/>
              </a:rPr>
              <a:t>Uniform facial recognition + digital weighing across all 5 MRF cities. BRSR shows Bengaluru added recently. Zero unverified transactions.</a:t>
            </a:r>
            <a:endParaRPr lang="en-US" sz="1050" dirty="0"/>
          </a:p>
        </p:txBody>
      </p:sp>
      <p:sp>
        <p:nvSpPr>
          <p:cNvPr id="9" name="Text 7"/>
          <p:cNvSpPr/>
          <p:nvPr/>
        </p:nvSpPr>
        <p:spPr>
          <a:xfrm>
            <a:off x="338328" y="2340864"/>
            <a:ext cx="3931920" cy="219456"/>
          </a:xfrm>
          <a:prstGeom prst="rect">
            <a:avLst/>
          </a:prstGeom>
          <a:noFill/>
          <a:ln/>
        </p:spPr>
        <p:txBody>
          <a:bodyPr wrap="square" rtlCol="0" anchor="ctr"/>
          <a:lstStyle/>
          <a:p>
            <a:pPr indent="0" marL="0">
              <a:buNone/>
            </a:pPr>
            <a:r>
              <a:rPr lang="en-US" sz="950" b="1" dirty="0">
                <a:solidFill>
                  <a:srgbClr val="97BC62"/>
                </a:solidFill>
                <a:latin typeface="Calibri" pitchFamily="34" charset="0"/>
                <a:ea typeface="Calibri" pitchFamily="34" charset="-122"/>
                <a:cs typeface="Calibri" pitchFamily="34" charset="-120"/>
              </a:rPr>
              <a:t>0-12 months  |  ₹60-80L</a:t>
            </a:r>
            <a:endParaRPr lang="en-US" sz="950" dirty="0"/>
          </a:p>
        </p:txBody>
      </p:sp>
      <p:sp>
        <p:nvSpPr>
          <p:cNvPr id="10" name="Shape 8"/>
          <p:cNvSpPr/>
          <p:nvPr/>
        </p:nvSpPr>
        <p:spPr>
          <a:xfrm>
            <a:off x="4690872" y="749808"/>
            <a:ext cx="4187952" cy="1865376"/>
          </a:xfrm>
          <a:prstGeom prst="rect">
            <a:avLst/>
          </a:prstGeom>
          <a:solidFill>
            <a:srgbClr val="1D2B1E"/>
          </a:solidFill>
          <a:ln/>
          <a:effectLst>
            <a:outerShdw sx="100000" sy="100000" kx="0" ky="0" algn="bl" rotWithShape="0" blurRad="63500" dist="25400" dir="8100000">
              <a:srgbClr val="000000">
                <a:alpha val="10000"/>
              </a:srgbClr>
            </a:outerShdw>
          </a:effectLst>
        </p:spPr>
      </p:sp>
      <p:sp>
        <p:nvSpPr>
          <p:cNvPr id="11" name="Shape 9"/>
          <p:cNvSpPr/>
          <p:nvPr/>
        </p:nvSpPr>
        <p:spPr>
          <a:xfrm>
            <a:off x="4690872" y="749808"/>
            <a:ext cx="4187952" cy="457200"/>
          </a:xfrm>
          <a:prstGeom prst="rect">
            <a:avLst/>
          </a:prstGeom>
          <a:solidFill>
            <a:srgbClr val="97BC62"/>
          </a:solidFill>
          <a:ln/>
        </p:spPr>
      </p:sp>
      <p:sp>
        <p:nvSpPr>
          <p:cNvPr id="12" name="Text 10"/>
          <p:cNvSpPr/>
          <p:nvPr/>
        </p:nvSpPr>
        <p:spPr>
          <a:xfrm>
            <a:off x="4782312" y="786384"/>
            <a:ext cx="402336" cy="384048"/>
          </a:xfrm>
          <a:prstGeom prst="rect">
            <a:avLst/>
          </a:prstGeom>
          <a:noFill/>
          <a:ln/>
        </p:spPr>
        <p:txBody>
          <a:bodyPr wrap="square" rtlCol="0" anchor="ctr"/>
          <a:lstStyle/>
          <a:p>
            <a:pPr indent="0" marL="0">
              <a:buNone/>
            </a:pPr>
            <a:r>
              <a:rPr lang="en-US" sz="1600" b="1" dirty="0">
                <a:solidFill>
                  <a:srgbClr val="1B3A1C"/>
                </a:solidFill>
                <a:latin typeface="Georgia" pitchFamily="34" charset="0"/>
                <a:ea typeface="Georgia" pitchFamily="34" charset="-122"/>
                <a:cs typeface="Georgia" pitchFamily="34" charset="-120"/>
              </a:rPr>
              <a:t>02</a:t>
            </a:r>
            <a:endParaRPr lang="en-US" sz="1600" dirty="0"/>
          </a:p>
        </p:txBody>
      </p:sp>
      <p:sp>
        <p:nvSpPr>
          <p:cNvPr id="13" name="Text 11"/>
          <p:cNvSpPr/>
          <p:nvPr/>
        </p:nvSpPr>
        <p:spPr>
          <a:xfrm>
            <a:off x="5239512" y="786384"/>
            <a:ext cx="3566160" cy="384048"/>
          </a:xfrm>
          <a:prstGeom prst="rect">
            <a:avLst/>
          </a:prstGeom>
          <a:noFill/>
          <a:ln/>
        </p:spPr>
        <p:txBody>
          <a:bodyPr wrap="square" rtlCol="0" anchor="ctr"/>
          <a:lstStyle/>
          <a:p>
            <a:pPr indent="0" marL="0">
              <a:buNone/>
            </a:pPr>
            <a:r>
              <a:rPr lang="en-US" sz="1150" b="1" dirty="0">
                <a:solidFill>
                  <a:srgbClr val="1B3A1C"/>
                </a:solidFill>
                <a:latin typeface="Calibri" pitchFamily="34" charset="0"/>
                <a:ea typeface="Calibri" pitchFamily="34" charset="-122"/>
                <a:cs typeface="Calibri" pitchFamily="34" charset="-120"/>
              </a:rPr>
              <a:t>Compliance Predictor</a:t>
            </a:r>
            <a:endParaRPr lang="en-US" sz="1150" dirty="0"/>
          </a:p>
          <a:p>
            <a:pPr indent="0" marL="0">
              <a:buNone/>
            </a:pPr>
            <a:r>
              <a:rPr lang="en-US" sz="1150" b="1" dirty="0">
                <a:solidFill>
                  <a:srgbClr val="1B3A1C"/>
                </a:solidFill>
                <a:latin typeface="Calibri" pitchFamily="34" charset="0"/>
                <a:ea typeface="Calibri" pitchFamily="34" charset="-122"/>
                <a:cs typeface="Calibri" pitchFamily="34" charset="-120"/>
              </a:rPr>
              <a:t>as Client Feature</a:t>
            </a:r>
            <a:endParaRPr lang="en-US" sz="1150" dirty="0"/>
          </a:p>
        </p:txBody>
      </p:sp>
      <p:sp>
        <p:nvSpPr>
          <p:cNvPr id="14" name="Text 12"/>
          <p:cNvSpPr/>
          <p:nvPr/>
        </p:nvSpPr>
        <p:spPr>
          <a:xfrm>
            <a:off x="4782312" y="1243584"/>
            <a:ext cx="3931920" cy="1005840"/>
          </a:xfrm>
          <a:prstGeom prst="rect">
            <a:avLst/>
          </a:prstGeom>
          <a:noFill/>
          <a:ln/>
        </p:spPr>
        <p:txBody>
          <a:bodyPr wrap="square" rtlCol="0" anchor="ctr"/>
          <a:lstStyle/>
          <a:p>
            <a:pPr indent="0" marL="0">
              <a:buNone/>
            </a:pPr>
            <a:r>
              <a:rPr lang="en-US" sz="1050" dirty="0">
                <a:solidFill>
                  <a:srgbClr val="F4F8F3"/>
                </a:solidFill>
                <a:latin typeface="Calibri" pitchFamily="34" charset="0"/>
                <a:ea typeface="Calibri" pitchFamily="34" charset="-122"/>
                <a:cs typeface="Calibri" pitchFamily="34" charset="-120"/>
              </a:rPr>
              <a:t>Move linear regression model into EPR Connect PIBO dashboard. Clients see 3-6 month compliance forecast. No competitor offers this.</a:t>
            </a:r>
            <a:endParaRPr lang="en-US" sz="1050" dirty="0"/>
          </a:p>
        </p:txBody>
      </p:sp>
      <p:sp>
        <p:nvSpPr>
          <p:cNvPr id="15" name="Text 13"/>
          <p:cNvSpPr/>
          <p:nvPr/>
        </p:nvSpPr>
        <p:spPr>
          <a:xfrm>
            <a:off x="4782312" y="2340864"/>
            <a:ext cx="3931920" cy="219456"/>
          </a:xfrm>
          <a:prstGeom prst="rect">
            <a:avLst/>
          </a:prstGeom>
          <a:noFill/>
          <a:ln/>
        </p:spPr>
        <p:txBody>
          <a:bodyPr wrap="square" rtlCol="0" anchor="ctr"/>
          <a:lstStyle/>
          <a:p>
            <a:pPr indent="0" marL="0">
              <a:buNone/>
            </a:pPr>
            <a:r>
              <a:rPr lang="en-US" sz="950" b="1" dirty="0">
                <a:solidFill>
                  <a:srgbClr val="97BC62"/>
                </a:solidFill>
                <a:latin typeface="Calibri" pitchFamily="34" charset="0"/>
                <a:ea typeface="Calibri" pitchFamily="34" charset="-122"/>
                <a:cs typeface="Calibri" pitchFamily="34" charset="-120"/>
              </a:rPr>
              <a:t>0-6 months  |  ₹15-20L</a:t>
            </a:r>
            <a:endParaRPr lang="en-US" sz="950" dirty="0"/>
          </a:p>
        </p:txBody>
      </p:sp>
      <p:sp>
        <p:nvSpPr>
          <p:cNvPr id="16" name="Shape 14"/>
          <p:cNvSpPr/>
          <p:nvPr/>
        </p:nvSpPr>
        <p:spPr>
          <a:xfrm>
            <a:off x="246888" y="2724912"/>
            <a:ext cx="4187952" cy="1865376"/>
          </a:xfrm>
          <a:prstGeom prst="rect">
            <a:avLst/>
          </a:prstGeom>
          <a:solidFill>
            <a:srgbClr val="1D2B1E"/>
          </a:solidFill>
          <a:ln/>
          <a:effectLst>
            <a:outerShdw sx="100000" sy="100000" kx="0" ky="0" algn="bl" rotWithShape="0" blurRad="63500" dist="25400" dir="8100000">
              <a:srgbClr val="000000">
                <a:alpha val="10000"/>
              </a:srgbClr>
            </a:outerShdw>
          </a:effectLst>
        </p:spPr>
      </p:sp>
      <p:sp>
        <p:nvSpPr>
          <p:cNvPr id="17" name="Shape 15"/>
          <p:cNvSpPr/>
          <p:nvPr/>
        </p:nvSpPr>
        <p:spPr>
          <a:xfrm>
            <a:off x="246888" y="2724912"/>
            <a:ext cx="4187952" cy="457200"/>
          </a:xfrm>
          <a:prstGeom prst="rect">
            <a:avLst/>
          </a:prstGeom>
          <a:solidFill>
            <a:srgbClr val="97BC62"/>
          </a:solidFill>
          <a:ln/>
        </p:spPr>
      </p:sp>
      <p:sp>
        <p:nvSpPr>
          <p:cNvPr id="18" name="Text 16"/>
          <p:cNvSpPr/>
          <p:nvPr/>
        </p:nvSpPr>
        <p:spPr>
          <a:xfrm>
            <a:off x="338328" y="2761488"/>
            <a:ext cx="402336" cy="384048"/>
          </a:xfrm>
          <a:prstGeom prst="rect">
            <a:avLst/>
          </a:prstGeom>
          <a:noFill/>
          <a:ln/>
        </p:spPr>
        <p:txBody>
          <a:bodyPr wrap="square" rtlCol="0" anchor="ctr"/>
          <a:lstStyle/>
          <a:p>
            <a:pPr indent="0" marL="0">
              <a:buNone/>
            </a:pPr>
            <a:r>
              <a:rPr lang="en-US" sz="1600" b="1" dirty="0">
                <a:solidFill>
                  <a:srgbClr val="1B3A1C"/>
                </a:solidFill>
                <a:latin typeface="Georgia" pitchFamily="34" charset="0"/>
                <a:ea typeface="Georgia" pitchFamily="34" charset="-122"/>
                <a:cs typeface="Georgia" pitchFamily="34" charset="-120"/>
              </a:rPr>
              <a:t>03</a:t>
            </a:r>
            <a:endParaRPr lang="en-US" sz="1600" dirty="0"/>
          </a:p>
        </p:txBody>
      </p:sp>
      <p:sp>
        <p:nvSpPr>
          <p:cNvPr id="19" name="Text 17"/>
          <p:cNvSpPr/>
          <p:nvPr/>
        </p:nvSpPr>
        <p:spPr>
          <a:xfrm>
            <a:off x="795528" y="2761488"/>
            <a:ext cx="3566160" cy="384048"/>
          </a:xfrm>
          <a:prstGeom prst="rect">
            <a:avLst/>
          </a:prstGeom>
          <a:noFill/>
          <a:ln/>
        </p:spPr>
        <p:txBody>
          <a:bodyPr wrap="square" rtlCol="0" anchor="ctr"/>
          <a:lstStyle/>
          <a:p>
            <a:pPr indent="0" marL="0">
              <a:buNone/>
            </a:pPr>
            <a:r>
              <a:rPr lang="en-US" sz="1150" b="1" dirty="0">
                <a:solidFill>
                  <a:srgbClr val="1B3A1C"/>
                </a:solidFill>
                <a:latin typeface="Calibri" pitchFamily="34" charset="0"/>
                <a:ea typeface="Calibri" pitchFamily="34" charset="-122"/>
                <a:cs typeface="Calibri" pitchFamily="34" charset="-120"/>
              </a:rPr>
              <a:t>Tier 2/3 EPR</a:t>
            </a:r>
            <a:endParaRPr lang="en-US" sz="1150" dirty="0"/>
          </a:p>
          <a:p>
            <a:pPr indent="0" marL="0">
              <a:buNone/>
            </a:pPr>
            <a:r>
              <a:rPr lang="en-US" sz="1150" b="1" dirty="0">
                <a:solidFill>
                  <a:srgbClr val="1B3A1C"/>
                </a:solidFill>
                <a:latin typeface="Calibri" pitchFamily="34" charset="0"/>
                <a:ea typeface="Calibri" pitchFamily="34" charset="-122"/>
                <a:cs typeface="Calibri" pitchFamily="34" charset="-120"/>
              </a:rPr>
              <a:t>Franchise Model</a:t>
            </a:r>
            <a:endParaRPr lang="en-US" sz="1150" dirty="0"/>
          </a:p>
        </p:txBody>
      </p:sp>
      <p:sp>
        <p:nvSpPr>
          <p:cNvPr id="20" name="Text 18"/>
          <p:cNvSpPr/>
          <p:nvPr/>
        </p:nvSpPr>
        <p:spPr>
          <a:xfrm>
            <a:off x="338328" y="3218688"/>
            <a:ext cx="3931920" cy="1005840"/>
          </a:xfrm>
          <a:prstGeom prst="rect">
            <a:avLst/>
          </a:prstGeom>
          <a:noFill/>
          <a:ln/>
        </p:spPr>
        <p:txBody>
          <a:bodyPr wrap="square" rtlCol="0" anchor="ctr"/>
          <a:lstStyle/>
          <a:p>
            <a:pPr indent="0" marL="0">
              <a:buNone/>
            </a:pPr>
            <a:r>
              <a:rPr lang="en-US" sz="1050" dirty="0">
                <a:solidFill>
                  <a:srgbClr val="F4F8F3"/>
                </a:solidFill>
                <a:latin typeface="Calibri" pitchFamily="34" charset="0"/>
                <a:ea typeface="Calibri" pitchFamily="34" charset="-122"/>
                <a:cs typeface="Calibri" pitchFamily="34" charset="-120"/>
              </a:rPr>
              <a:t>License NEPRA platform + methodology to local entrepreneurs. BRSR: 4 MRFs but 33-state EPR coverage. The gap is the opportunity.</a:t>
            </a:r>
            <a:endParaRPr lang="en-US" sz="1050" dirty="0"/>
          </a:p>
        </p:txBody>
      </p:sp>
      <p:sp>
        <p:nvSpPr>
          <p:cNvPr id="21" name="Text 19"/>
          <p:cNvSpPr/>
          <p:nvPr/>
        </p:nvSpPr>
        <p:spPr>
          <a:xfrm>
            <a:off x="338328" y="4315968"/>
            <a:ext cx="3931920" cy="219456"/>
          </a:xfrm>
          <a:prstGeom prst="rect">
            <a:avLst/>
          </a:prstGeom>
          <a:noFill/>
          <a:ln/>
        </p:spPr>
        <p:txBody>
          <a:bodyPr wrap="square" rtlCol="0" anchor="ctr"/>
          <a:lstStyle/>
          <a:p>
            <a:pPr indent="0" marL="0">
              <a:buNone/>
            </a:pPr>
            <a:r>
              <a:rPr lang="en-US" sz="950" b="1" dirty="0">
                <a:solidFill>
                  <a:srgbClr val="97BC62"/>
                </a:solidFill>
                <a:latin typeface="Calibri" pitchFamily="34" charset="0"/>
                <a:ea typeface="Calibri" pitchFamily="34" charset="-122"/>
                <a:cs typeface="Calibri" pitchFamily="34" charset="-120"/>
              </a:rPr>
              <a:t>12-36 months  |  ₹3-5 Cr</a:t>
            </a:r>
            <a:endParaRPr lang="en-US" sz="950" dirty="0"/>
          </a:p>
        </p:txBody>
      </p:sp>
      <p:sp>
        <p:nvSpPr>
          <p:cNvPr id="22" name="Shape 20"/>
          <p:cNvSpPr/>
          <p:nvPr/>
        </p:nvSpPr>
        <p:spPr>
          <a:xfrm>
            <a:off x="4690872" y="2724912"/>
            <a:ext cx="4187952" cy="1865376"/>
          </a:xfrm>
          <a:prstGeom prst="rect">
            <a:avLst/>
          </a:prstGeom>
          <a:solidFill>
            <a:srgbClr val="1D2B1E"/>
          </a:solidFill>
          <a:ln/>
          <a:effectLst>
            <a:outerShdw sx="100000" sy="100000" kx="0" ky="0" algn="bl" rotWithShape="0" blurRad="63500" dist="25400" dir="8100000">
              <a:srgbClr val="000000">
                <a:alpha val="10000"/>
              </a:srgbClr>
            </a:outerShdw>
          </a:effectLst>
        </p:spPr>
      </p:sp>
      <p:sp>
        <p:nvSpPr>
          <p:cNvPr id="23" name="Shape 21"/>
          <p:cNvSpPr/>
          <p:nvPr/>
        </p:nvSpPr>
        <p:spPr>
          <a:xfrm>
            <a:off x="4690872" y="2724912"/>
            <a:ext cx="4187952" cy="457200"/>
          </a:xfrm>
          <a:prstGeom prst="rect">
            <a:avLst/>
          </a:prstGeom>
          <a:solidFill>
            <a:srgbClr val="97BC62"/>
          </a:solidFill>
          <a:ln/>
        </p:spPr>
      </p:sp>
      <p:sp>
        <p:nvSpPr>
          <p:cNvPr id="24" name="Text 22"/>
          <p:cNvSpPr/>
          <p:nvPr/>
        </p:nvSpPr>
        <p:spPr>
          <a:xfrm>
            <a:off x="4782312" y="2761488"/>
            <a:ext cx="402336" cy="384048"/>
          </a:xfrm>
          <a:prstGeom prst="rect">
            <a:avLst/>
          </a:prstGeom>
          <a:noFill/>
          <a:ln/>
        </p:spPr>
        <p:txBody>
          <a:bodyPr wrap="square" rtlCol="0" anchor="ctr"/>
          <a:lstStyle/>
          <a:p>
            <a:pPr indent="0" marL="0">
              <a:buNone/>
            </a:pPr>
            <a:r>
              <a:rPr lang="en-US" sz="1600" b="1" dirty="0">
                <a:solidFill>
                  <a:srgbClr val="1B3A1C"/>
                </a:solidFill>
                <a:latin typeface="Georgia" pitchFamily="34" charset="0"/>
                <a:ea typeface="Georgia" pitchFamily="34" charset="-122"/>
                <a:cs typeface="Georgia" pitchFamily="34" charset="-120"/>
              </a:rPr>
              <a:t>04</a:t>
            </a:r>
            <a:endParaRPr lang="en-US" sz="1600" dirty="0"/>
          </a:p>
        </p:txBody>
      </p:sp>
      <p:sp>
        <p:nvSpPr>
          <p:cNvPr id="25" name="Text 23"/>
          <p:cNvSpPr/>
          <p:nvPr/>
        </p:nvSpPr>
        <p:spPr>
          <a:xfrm>
            <a:off x="5239512" y="2761488"/>
            <a:ext cx="3566160" cy="384048"/>
          </a:xfrm>
          <a:prstGeom prst="rect">
            <a:avLst/>
          </a:prstGeom>
          <a:noFill/>
          <a:ln/>
        </p:spPr>
        <p:txBody>
          <a:bodyPr wrap="square" rtlCol="0" anchor="ctr"/>
          <a:lstStyle/>
          <a:p>
            <a:pPr indent="0" marL="0">
              <a:buNone/>
            </a:pPr>
            <a:r>
              <a:rPr lang="en-US" sz="1150" b="1" dirty="0">
                <a:solidFill>
                  <a:srgbClr val="1B3A1C"/>
                </a:solidFill>
                <a:latin typeface="Calibri" pitchFamily="34" charset="0"/>
                <a:ea typeface="Calibri" pitchFamily="34" charset="-122"/>
                <a:cs typeface="Calibri" pitchFamily="34" charset="-120"/>
              </a:rPr>
              <a:t>Recycled Material</a:t>
            </a:r>
            <a:endParaRPr lang="en-US" sz="1150" dirty="0"/>
          </a:p>
          <a:p>
            <a:pPr indent="0" marL="0">
              <a:buNone/>
            </a:pPr>
            <a:r>
              <a:rPr lang="en-US" sz="1150" b="1" dirty="0">
                <a:solidFill>
                  <a:srgbClr val="1B3A1C"/>
                </a:solidFill>
                <a:latin typeface="Calibri" pitchFamily="34" charset="0"/>
                <a:ea typeface="Calibri" pitchFamily="34" charset="-122"/>
                <a:cs typeface="Calibri" pitchFamily="34" charset="-120"/>
              </a:rPr>
              <a:t>Marketplace B2B</a:t>
            </a:r>
            <a:endParaRPr lang="en-US" sz="1150" dirty="0"/>
          </a:p>
        </p:txBody>
      </p:sp>
      <p:sp>
        <p:nvSpPr>
          <p:cNvPr id="26" name="Text 24"/>
          <p:cNvSpPr/>
          <p:nvPr/>
        </p:nvSpPr>
        <p:spPr>
          <a:xfrm>
            <a:off x="4782312" y="3218688"/>
            <a:ext cx="3931920" cy="1005840"/>
          </a:xfrm>
          <a:prstGeom prst="rect">
            <a:avLst/>
          </a:prstGeom>
          <a:noFill/>
          <a:ln/>
        </p:spPr>
        <p:txBody>
          <a:bodyPr wrap="square" rtlCol="0" anchor="ctr"/>
          <a:lstStyle/>
          <a:p>
            <a:pPr indent="0" marL="0">
              <a:buNone/>
            </a:pPr>
            <a:r>
              <a:rPr lang="en-US" sz="1050" dirty="0">
                <a:solidFill>
                  <a:srgbClr val="F4F8F3"/>
                </a:solidFill>
                <a:latin typeface="Calibri" pitchFamily="34" charset="0"/>
                <a:ea typeface="Calibri" pitchFamily="34" charset="-122"/>
                <a:cs typeface="Calibri" pitchFamily="34" charset="-120"/>
              </a:rPr>
              <a:t>Exchange where recyclers bid for NEPRA-certified batches. NEPRA's origin + quality data from BRSR/GHG is the unfair advantage.</a:t>
            </a:r>
            <a:endParaRPr lang="en-US" sz="1050" dirty="0"/>
          </a:p>
        </p:txBody>
      </p:sp>
      <p:sp>
        <p:nvSpPr>
          <p:cNvPr id="27" name="Text 25"/>
          <p:cNvSpPr/>
          <p:nvPr/>
        </p:nvSpPr>
        <p:spPr>
          <a:xfrm>
            <a:off x="4782312" y="4315968"/>
            <a:ext cx="3931920" cy="219456"/>
          </a:xfrm>
          <a:prstGeom prst="rect">
            <a:avLst/>
          </a:prstGeom>
          <a:noFill/>
          <a:ln/>
        </p:spPr>
        <p:txBody>
          <a:bodyPr wrap="square" rtlCol="0" anchor="ctr"/>
          <a:lstStyle/>
          <a:p>
            <a:pPr indent="0" marL="0">
              <a:buNone/>
            </a:pPr>
            <a:r>
              <a:rPr lang="en-US" sz="950" b="1" dirty="0">
                <a:solidFill>
                  <a:srgbClr val="97BC62"/>
                </a:solidFill>
                <a:latin typeface="Calibri" pitchFamily="34" charset="0"/>
                <a:ea typeface="Calibri" pitchFamily="34" charset="-122"/>
                <a:cs typeface="Calibri" pitchFamily="34" charset="-120"/>
              </a:rPr>
              <a:t>18-30 months  |  ₹4-6 Cr</a:t>
            </a:r>
            <a:endParaRPr lang="en-US" sz="950" dirty="0"/>
          </a:p>
        </p:txBody>
      </p:sp>
      <p:sp>
        <p:nvSpPr>
          <p:cNvPr id="28" name="Shape 26"/>
          <p:cNvSpPr/>
          <p:nvPr/>
        </p:nvSpPr>
        <p:spPr>
          <a:xfrm>
            <a:off x="0" y="4828032"/>
            <a:ext cx="9144000" cy="310896"/>
          </a:xfrm>
          <a:prstGeom prst="rect">
            <a:avLst/>
          </a:prstGeom>
          <a:solidFill>
            <a:srgbClr val="2C5F2D"/>
          </a:solidFill>
          <a:ln/>
        </p:spPr>
      </p:sp>
      <p:sp>
        <p:nvSpPr>
          <p:cNvPr id="29" name="Text 27"/>
          <p:cNvSpPr/>
          <p:nvPr/>
        </p:nvSpPr>
        <p:spPr>
          <a:xfrm>
            <a:off x="182880" y="4846320"/>
            <a:ext cx="8778240" cy="256032"/>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Two real problems, documented by IFC + BII + NEPRA BRSR.  Two AI solutions.  Measurable, officially disclosed outcomes.  —  Himanshu Rai | XW013-25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Circularity — NEPRA Let's Recycle | ENT+WAI | IIM Ranchi</dc:title>
  <dc:subject>PptxGenJS Presentation</dc:subject>
  <dc:creator>Himanshu Rai | XW013-25 | EMBA 2025 Winter | IIM Ranchi</dc:creator>
  <cp:lastModifiedBy>Himanshu Rai | XW013-25 | EMBA 2025 Winter | IIM Ranchi</cp:lastModifiedBy>
  <cp:revision>1</cp:revision>
  <dcterms:created xsi:type="dcterms:W3CDTF">2026-02-27T16:27:32Z</dcterms:created>
  <dcterms:modified xsi:type="dcterms:W3CDTF">2026-02-27T16:27:32Z</dcterms:modified>
</cp:coreProperties>
</file>