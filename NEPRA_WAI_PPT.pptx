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C5F2D">
              <a:alpha val="3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 |  WORKING WITH AI (WAI)  —  IIM RANCHI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Circularity: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Pivot &amp; Supply Chain Traceability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8836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Let’s Recycle  (NEPRA Resource Management Pvt. Ltd.)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502920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2374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</a:t>
            </a:r>
            <a:pPr indent="0" marL="0">
              <a:buNone/>
            </a:pPr>
            <a:r>
              <a:rPr lang="en-US" sz="1350" dirty="0">
                <a:solidFill>
                  <a:srgbClr val="F4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 2025 (Winter Batch)  |  Roll XW013-25  |  IIM Ranchi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2871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Santosh Kumar Prusty  &amp;  Prof. Rohit Kumar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NEPRA BRSR FY23  |  GHG Report FY23  |  IFC 2023  |  BII 2022  |  Tracxn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5112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February 28,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OVERVIEW — Let’s Recycle (NEPRA Resource Management Pvt. Ltd.)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2012  |  CIIE.co, IIM Ahmedabad  |  Ahmedabad, Gujarat  |  All figures from BRSR &amp; GHG Report FY2022-23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263347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32688"/>
            <a:ext cx="263347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60704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1,82,000 MT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waste diverted FY23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[BRSR FY23, p.3 — OFFICIAL]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45536" y="932688"/>
            <a:ext cx="263347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45536" y="932688"/>
            <a:ext cx="263347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060704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 TPD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55264" y="1755648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MRF processing capacity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cities) [BRSR FY23]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932688"/>
            <a:ext cx="263347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32688"/>
            <a:ext cx="263347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1060704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44768" y="1755648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EPR advisory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 1 post-amendment)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[BRSR Table 16]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633472"/>
            <a:ext cx="263347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633472"/>
            <a:ext cx="2633472" cy="5486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761488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$38.6M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5760" y="345643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 raised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rounds) [Tracxn]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45536" y="2633472"/>
            <a:ext cx="263347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2633472"/>
            <a:ext cx="2633472" cy="5486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61488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148×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55264" y="345643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mitigated vs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emissions [GHG FY23]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633472"/>
            <a:ext cx="263347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633472"/>
            <a:ext cx="2633472" cy="5486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6144768" y="2761488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45.28%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44768" y="345643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MRF workforce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720 workers)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[BRSR Table 20]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" y="4709160"/>
            <a:ext cx="8631936" cy="164592"/>
          </a:xfrm>
          <a:prstGeom prst="rect">
            <a:avLst/>
          </a:prstGeom>
          <a:solidFill>
            <a:srgbClr val="D6EAD7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" y="4718304"/>
            <a:ext cx="8503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NEPRA BRSR FY2022-23 (Tables 16, 19, 20) + GHG Inventory Report FY2022-23 + Tracxn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XW013-25  |  EMBA 2025 Winter  |  IIM Ranchi  |  ENT + WAI Project  |  Data: NEPRA BRSR + GHG Reports FY2022-23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1  —  WEIGHING FRAUD, PAYMENT EXPLOITATION &amp; SUPPLY CHAIN INSTABILITY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987552"/>
          </a:xfrm>
          <a:prstGeom prst="rect">
            <a:avLst/>
          </a:prstGeom>
          <a:solidFill>
            <a:srgbClr val="FFF0E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64008" cy="9875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786384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“Waste pickers are frequently exploited by buyers who tamper with weighing systems, leading to unfairly low prices, and are often unreliable with payment.”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49961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International Investment (BII) Case Study, 2022  —  Primary source evidence (NEPRA investor documentation)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847088"/>
            <a:ext cx="2816352" cy="2798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847088"/>
            <a:ext cx="64008" cy="279806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91109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Instability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" y="2267712"/>
            <a:ext cx="25786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Pickers moved between buyers unpredictably. No loyalty possible. NEPRA could not build a stable material supply base or plan MRF staffing.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1847088"/>
            <a:ext cx="2816352" cy="2798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847088"/>
            <a:ext cx="64008" cy="279806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191109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46704" y="2267712"/>
            <a:ext cx="25786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verified weight records, NEPRA could not issue traceable recycling certificates, blocking institutional contracts with ULBs and corporates.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08192" y="1847088"/>
            <a:ext cx="2816352" cy="2798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847088"/>
            <a:ext cx="64008" cy="279806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191109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Ceiling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2784" y="2267712"/>
            <a:ext cx="25786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stuck at ~22 TPD in early years. IFC confirms only 100 TPD by 2017 — five years into operations. Exploitation was the binding constraint.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4709160"/>
            <a:ext cx="8631936" cy="164592"/>
          </a:xfrm>
          <a:prstGeom prst="rect">
            <a:avLst/>
          </a:prstGeom>
          <a:solidFill>
            <a:srgbClr val="D6EAD7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" y="4718304"/>
            <a:ext cx="8503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BII Case Study 2022 (bii.co.uk)  |  IFC Case Study 2023 (ifc.org)  |  AIM2Flourish, Sandeep Patel, 2019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XW013-25  |  EMBA 2025 Winter  |  IIM Ranchi  |  ENT + WAI Project  |  Data: NEPRA BRSR + GHG Reports FY2022-23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1 SOLUTION  —  LR TECHNOLOGY ECOSYSTEM (AI-Backed)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46888" y="749808"/>
            <a:ext cx="2788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" y="749808"/>
            <a:ext cx="2788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78638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Collection App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Digital Weighing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" y="1243584"/>
            <a:ext cx="257860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Scale-linked app — weight from calibrated scale enters ERP directly. No manual entry possible. Fraud structurally eliminated.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27248" y="749808"/>
            <a:ext cx="2788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27248" y="749808"/>
            <a:ext cx="2788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236976" y="78638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(Biometric ID)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36976" y="1243584"/>
            <a:ext cx="257860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requires picker face scan. Ghost record fraud eliminated. First waste management deployment of biometrics in India.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07608" y="749808"/>
            <a:ext cx="2788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07608" y="749808"/>
            <a:ext cx="2788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117336" y="78638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Digital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17336" y="1243584"/>
            <a:ext cx="257860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before van leaves the site. IFC 2023: this reliability drove 10× picker network growth since 2013.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" y="2542032"/>
            <a:ext cx="2788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" y="2542032"/>
            <a:ext cx="2788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" y="25786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Route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" y="3035808"/>
            <a:ext cx="257860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400m travel for Gujarat pickers [IFC 2023]. Collection costs reduced 33% from 2013 to 2018 [AIM2Flourish].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27248" y="2542032"/>
            <a:ext cx="2788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2542032"/>
            <a:ext cx="2788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3236976" y="25786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36976" y="3035808"/>
            <a:ext cx="257860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 material availability forecast. Enables advance recycler contract negotiation. Converts supply stability into commercial advantage.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07608" y="2542032"/>
            <a:ext cx="2788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07608" y="2542032"/>
            <a:ext cx="2788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117336" y="25786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(FY23)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17336" y="3035808"/>
            <a:ext cx="257860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1,82,000 MT diverted [BRSR]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TPD capacity [BRSR]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pickers: life improved [IFC]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income premium [IFC]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" y="4709160"/>
            <a:ext cx="8631936" cy="164592"/>
          </a:xfrm>
          <a:prstGeom prst="rect">
            <a:avLst/>
          </a:prstGeom>
          <a:solidFill>
            <a:srgbClr val="D6EAD7"/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" y="4718304"/>
            <a:ext cx="8503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IFC Case Study 2023  |  AIM2Flourish 2019  |  BII 2022  |  NEPRA BRSR FY2022-23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XW013-25  |  EMBA 2025 Winter  |  IIM Ranchi  |  ENT + WAI Project  |  Data: NEPRA BRSR + GHG Reports FY2022-23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1 — REAL DATA: Growth Trajectory &amp; IFC Picker Survey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694944"/>
            <a:ext cx="5321808" cy="21031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871216"/>
            <a:ext cx="8631936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05856" y="694944"/>
            <a:ext cx="3182112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05856" y="694944"/>
            <a:ext cx="3182112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4"/>
          <p:cNvSpPr/>
          <p:nvPr/>
        </p:nvSpPr>
        <p:spPr>
          <a:xfrm>
            <a:off x="5833872" y="749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Anchors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833872" y="113385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 MT (2012)  →  AIM2Flourish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833872" y="13258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TPD (2017)  →  IFC 2023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833872" y="151790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 TPD (2022)  →  IFC 2023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833872" y="17099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1,82,000 MT (FY23)  →  BRSR p.3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833872" y="19019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TPD (FY23)  →  BRSR FY23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33872" y="209397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survey  →  IFC 2021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833872" y="22860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premium  →  IFC 2023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833872" y="247802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20-25% more  →  BII 2022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56032" y="4626864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Income trajectory (left panel) is ESTIMATED — anchored to IFC/BII findings — clearly labeled in chart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19" name="Text 15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XW013-25  |  EMBA 2025 Winter  |  IIM Ranchi  |  ENT + WAI Project  |  Data: NEPRA BRSR + GHG Reports FY2022-23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DATA DEEP DIVE — MRF Capacity, Workforce &amp; Turnover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from official NEPRA disclosures: GHG Report FY2022-23 + BRSR FY2022-23 Tables 20 &amp; 22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96112"/>
            <a:ext cx="8631936" cy="34930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4462272"/>
            <a:ext cx="2066544" cy="329184"/>
          </a:xfrm>
          <a:prstGeom prst="rect">
            <a:avLst/>
          </a:prstGeom>
          <a:solidFill>
            <a:srgbClr val="D6EAD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92608" y="4480560"/>
            <a:ext cx="19933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 MRF: 300 TPD  [GHG Report FY23]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32304" y="4462272"/>
            <a:ext cx="2066544" cy="329184"/>
          </a:xfrm>
          <a:prstGeom prst="rect">
            <a:avLst/>
          </a:prstGeom>
          <a:solidFill>
            <a:srgbClr val="D6EAD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68880" y="4480560"/>
            <a:ext cx="19933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MRF: 45.28%  [BRSR Table 20]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08576" y="4462272"/>
            <a:ext cx="2066544" cy="329184"/>
          </a:xfrm>
          <a:prstGeom prst="rect">
            <a:avLst/>
          </a:prstGeom>
          <a:solidFill>
            <a:srgbClr val="D6EAD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45152" y="4480560"/>
            <a:ext cx="19933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turnover FY23: 24.60%  [BRSR Table 22]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84848" y="4462272"/>
            <a:ext cx="2066544" cy="329184"/>
          </a:xfrm>
          <a:prstGeom prst="rect">
            <a:avLst/>
          </a:prstGeom>
          <a:solidFill>
            <a:srgbClr val="D6EAD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21424" y="4480560"/>
            <a:ext cx="19933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turnover FY23: 45.45%  [BRSR Table 22]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XW013-25  |  EMBA 2025 Winter  |  IIM Ranchi  |  ENT + WAI Project  |  Data: NEPRA BRSR + GHG Reports FY2022-23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2  —  EPR COMPLIANCE AT SCALE: Post-2022 Amendment Complexity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631936" cy="731520"/>
          </a:xfrm>
          <a:prstGeom prst="rect">
            <a:avLst/>
          </a:prstGeom>
          <a:solidFill>
            <a:srgbClr val="E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0624" y="8229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FY23 Confirmation:  EPR Advisory = 16% of total revenue (Table 16)  |  33 states + UTs coverage (Table 19)  |  6 web portals for governance (Table — Tech Disclosures)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572768"/>
            <a:ext cx="4206240" cy="3145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0624" y="1664208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" y="2029968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PIBO clients:  hundreds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2249424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4 plastic categories (PWM 2022)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2468880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4 quarterly checks per year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" y="2688336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Thousands of data points / year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2907792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3127248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capacity: ~45/person/month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" y="3346704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Would need 31 staff manually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" y="3566160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NEPRA manages with 3  (AI-assisted)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" y="3785616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" y="4005072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Table 16: EPR = 16% revenue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" y="4224528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first full year post-amendment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1728" y="1572768"/>
            <a:ext cx="4206240" cy="3145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664208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Challenges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28032" y="217627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2176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217627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Velocity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93792" y="245059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updated PWM rules 12+ times since 2022. Manual review takes days per circular.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312724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3127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93792" y="3127248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Fraud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3792" y="3401568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recyclers issue fake EPR certificates. NEPRA's credibility depends on verified-only certs.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407822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4078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3792" y="407822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Blindness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93792" y="4352544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PIBOs discovering Q4 shortfalls face 3-5× higher certificate prices than Q1.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6032" y="4709160"/>
            <a:ext cx="8631936" cy="164592"/>
          </a:xfrm>
          <a:prstGeom prst="rect">
            <a:avLst/>
          </a:prstGeom>
          <a:solidFill>
            <a:srgbClr val="D6EAD7"/>
          </a:solidFill>
          <a:ln/>
        </p:spPr>
      </p:sp>
      <p:sp>
        <p:nvSpPr>
          <p:cNvPr id="34" name="Text 32"/>
          <p:cNvSpPr/>
          <p:nvPr/>
        </p:nvSpPr>
        <p:spPr>
          <a:xfrm>
            <a:off x="310896" y="4718304"/>
            <a:ext cx="8503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NEPRA BRSR FY2022-23 Tables 16 &amp; 19  |  MoEFCC Plastic Waste Management (Amendment) Rules 2022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XW013-25  |  EMBA 2025 Winter  |  IIM Ranchi  |  ENT + WAI Project  |  Data: NEPRA BRSR + GHG Reports FY2022-23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2 SOLUTION  —  EPR CONNECT, NLP MONITORING &amp; COMPLIANCE PREDICTOR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64008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7955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Connect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8912" y="1097280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real-time compliance dashboard for all PIBO clients. Certificate balance vs. liability by plastic category. Auto-alerts. Referenced explicitly in BRSR FY23.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700784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700784"/>
            <a:ext cx="64008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746504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Regulatory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notifications parsed in hours via AI (Claude). Regulatory updates auto-converted to PIBO advisory notes. Covers all 33 states + UTs.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651760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651760"/>
            <a:ext cx="64008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69748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(ML)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2999232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(Python scikit-learn): forecasts PIBO compliance shortfall 3-6 months ahead. R² = 0.595. Enables Q1-Q3 procurement before Q4 price spikes.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3602736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602736"/>
            <a:ext cx="64008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64845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3950208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compliance tracking exportable for PIBO ESG reports and annual CPCB return filings. Six web portals confirmed in BRSR FY23.</a:t>
            </a:r>
            <a:endParaRPr lang="en-US" sz="10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694944"/>
            <a:ext cx="4261104" cy="38039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645152" y="4517136"/>
            <a:ext cx="4261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mitigated: 2,80,260 MT CO2e  vs  own emissions: 1,899 MT CO2e  =  148×  |  Source: GHG Inventory Report FY2022-23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56032" y="4709160"/>
            <a:ext cx="8631936" cy="164592"/>
          </a:xfrm>
          <a:prstGeom prst="rect">
            <a:avLst/>
          </a:prstGeom>
          <a:solidFill>
            <a:srgbClr val="D6EAD7"/>
          </a:solidFill>
          <a:ln/>
        </p:spPr>
      </p:sp>
      <p:sp>
        <p:nvSpPr>
          <p:cNvPr id="23" name="Text 20"/>
          <p:cNvSpPr/>
          <p:nvPr/>
        </p:nvSpPr>
        <p:spPr>
          <a:xfrm>
            <a:off x="310896" y="4718304"/>
            <a:ext cx="8503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BRSR FY23 (EPR Connect + 6 portals)  |  GHG Report FY23 (all GHG figures)  |  Python scikit-learn (compliance model)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XW013-25  |  EMBA 2025 Winter  |  IIM Ranchi  |  ENT + WAI Project  |  Data: NEPRA BRSR + GHG Reports FY2022-23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DATA: Revenue Mix + Funding + Python ML Models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694944"/>
            <a:ext cx="4315968" cy="2286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694944"/>
            <a:ext cx="4279392" cy="22860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035808"/>
            <a:ext cx="4315968" cy="1700784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3035808"/>
            <a:ext cx="4279392" cy="170078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56032" y="2962656"/>
            <a:ext cx="43159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mix: BRSR FY23, Table 16</a:t>
            </a:r>
            <a:endParaRPr lang="en-US" sz="800" dirty="0"/>
          </a:p>
        </p:txBody>
      </p:sp>
      <p:sp>
        <p:nvSpPr>
          <p:cNvPr id="9" name="Text 3"/>
          <p:cNvSpPr/>
          <p:nvPr/>
        </p:nvSpPr>
        <p:spPr>
          <a:xfrm>
            <a:off x="4608576" y="2962656"/>
            <a:ext cx="4279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Tracxn — $38.6M | ₹439 Cr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256032" y="4718304"/>
            <a:ext cx="43159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A: K-Means — Picker Formalization (synthetic, calibrated to IFC)</a:t>
            </a:r>
            <a:endParaRPr lang="en-US" sz="800" dirty="0"/>
          </a:p>
        </p:txBody>
      </p:sp>
      <p:sp>
        <p:nvSpPr>
          <p:cNvPr id="11" name="Text 5"/>
          <p:cNvSpPr/>
          <p:nvPr/>
        </p:nvSpPr>
        <p:spPr>
          <a:xfrm>
            <a:off x="4608576" y="4718304"/>
            <a:ext cx="4279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B: EPR Compliance Gap Predictor — R²=0.595 (synthetic data, methodology demo)</a:t>
            </a:r>
            <a:endParaRPr lang="en-US" sz="800" dirty="0"/>
          </a:p>
        </p:txBody>
      </p:sp>
      <p:sp>
        <p:nvSpPr>
          <p:cNvPr id="12" name="Shape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13" name="Text 7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XW013-25  |  EMBA 2025 Winter  |  IIM Ranchi  |  ENT + WAI Project  |  Data: NEPRA BRSR + GHG Reports FY2022-23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 METHODOLOGY — AI Tools, Data Sources &amp; Ethical Controls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19812000" cy="329184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749808"/>
            <a:ext cx="19738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Source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068032" y="713232"/>
            <a:ext cx="38608000" cy="329184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7" name="Text 5"/>
          <p:cNvSpPr/>
          <p:nvPr/>
        </p:nvSpPr>
        <p:spPr>
          <a:xfrm>
            <a:off x="20104608" y="749808"/>
            <a:ext cx="38534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676032" y="713232"/>
            <a:ext cx="60452000" cy="329184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9" name="Text 7"/>
          <p:cNvSpPr/>
          <p:nvPr/>
        </p:nvSpPr>
        <p:spPr>
          <a:xfrm>
            <a:off x="58712608" y="749808"/>
            <a:ext cx="60378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Control Applied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19775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" y="1115568"/>
            <a:ext cx="1970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086320" y="1078992"/>
            <a:ext cx="38571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13" name="Text 11"/>
          <p:cNvSpPr/>
          <p:nvPr/>
        </p:nvSpPr>
        <p:spPr>
          <a:xfrm>
            <a:off x="20122896" y="1115568"/>
            <a:ext cx="38498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BRSR/GHG parsing; problem framing; report drafting; EPR regulation synthesis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694320" y="1078992"/>
            <a:ext cx="60415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15" name="Text 13"/>
          <p:cNvSpPr/>
          <p:nvPr/>
        </p:nvSpPr>
        <p:spPr>
          <a:xfrm>
            <a:off x="58730896" y="1115568"/>
            <a:ext cx="6034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verified against primary sources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17320"/>
            <a:ext cx="19775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" y="1453896"/>
            <a:ext cx="1970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scikit-learn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086320" y="1417320"/>
            <a:ext cx="38571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0122896" y="1453896"/>
            <a:ext cx="38498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picker clustering; linear regression EPR predictor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694320" y="1417320"/>
            <a:ext cx="60415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8730896" y="1453896"/>
            <a:ext cx="6034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inputs labeled ⚠; model methodology explained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755648"/>
            <a:ext cx="19775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" y="1792224"/>
            <a:ext cx="1970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matplotlib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086320" y="1755648"/>
            <a:ext cx="38571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25" name="Text 23"/>
          <p:cNvSpPr/>
          <p:nvPr/>
        </p:nvSpPr>
        <p:spPr>
          <a:xfrm>
            <a:off x="20122896" y="1792224"/>
            <a:ext cx="38498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visualisations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694320" y="1755648"/>
            <a:ext cx="60415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27" name="Text 25"/>
          <p:cNvSpPr/>
          <p:nvPr/>
        </p:nvSpPr>
        <p:spPr>
          <a:xfrm>
            <a:off x="58730896" y="1792224"/>
            <a:ext cx="6034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has source citation in caption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093976"/>
            <a:ext cx="19775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" y="2130552"/>
            <a:ext cx="1970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pandas/numpy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086320" y="2093976"/>
            <a:ext cx="38571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0122896" y="2130552"/>
            <a:ext cx="38498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structuring; CSV export with source column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694320" y="2093976"/>
            <a:ext cx="60415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8730896" y="2130552"/>
            <a:ext cx="6034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CSV submitted alongside code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432304"/>
            <a:ext cx="19775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35" name="Text 33"/>
          <p:cNvSpPr/>
          <p:nvPr/>
        </p:nvSpPr>
        <p:spPr>
          <a:xfrm>
            <a:off x="310896" y="2468880"/>
            <a:ext cx="1970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NEPRA BRSR FY23 (PDF)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086320" y="2432304"/>
            <a:ext cx="38571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37" name="Text 35"/>
          <p:cNvSpPr/>
          <p:nvPr/>
        </p:nvSpPr>
        <p:spPr>
          <a:xfrm>
            <a:off x="20122896" y="2468880"/>
            <a:ext cx="38498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data: Tables 16, 19, 20, 22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694320" y="2432304"/>
            <a:ext cx="60415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39" name="Text 37"/>
          <p:cNvSpPr/>
          <p:nvPr/>
        </p:nvSpPr>
        <p:spPr>
          <a:xfrm>
            <a:off x="58730896" y="2468880"/>
            <a:ext cx="6034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 — URL verified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770632"/>
            <a:ext cx="19775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10896" y="2807208"/>
            <a:ext cx="1970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NEPRA GHG Report FY23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086320" y="2770632"/>
            <a:ext cx="38571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20122896" y="2807208"/>
            <a:ext cx="38498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figures; MRF city-wise capacities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694320" y="2770632"/>
            <a:ext cx="60415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8730896" y="2807208"/>
            <a:ext cx="6034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 — URL verified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108960"/>
            <a:ext cx="19775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47" name="Text 45"/>
          <p:cNvSpPr/>
          <p:nvPr/>
        </p:nvSpPr>
        <p:spPr>
          <a:xfrm>
            <a:off x="310896" y="3145536"/>
            <a:ext cx="1970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Case Study 2023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0086320" y="3108960"/>
            <a:ext cx="38571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49" name="Text 47"/>
          <p:cNvSpPr/>
          <p:nvPr/>
        </p:nvSpPr>
        <p:spPr>
          <a:xfrm>
            <a:off x="20122896" y="3145536"/>
            <a:ext cx="38498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survey data (78%, 48%, 45%, 36%, 32%)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694320" y="3108960"/>
            <a:ext cx="60415424" cy="320040"/>
          </a:xfrm>
          <a:prstGeom prst="rect">
            <a:avLst/>
          </a:prstGeom>
          <a:solidFill>
            <a:srgbClr val="F8FBF8"/>
          </a:solidFill>
          <a:ln/>
        </p:spPr>
      </p:sp>
      <p:sp>
        <p:nvSpPr>
          <p:cNvPr id="51" name="Text 49"/>
          <p:cNvSpPr/>
          <p:nvPr/>
        </p:nvSpPr>
        <p:spPr>
          <a:xfrm>
            <a:off x="58730896" y="3145536"/>
            <a:ext cx="6034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primary field research — not secondary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447288"/>
            <a:ext cx="19775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310896" y="3483864"/>
            <a:ext cx="1970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Tracxn Profile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0086320" y="3447288"/>
            <a:ext cx="38571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0122896" y="3483864"/>
            <a:ext cx="38498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rounds, amounts, valuation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694320" y="3447288"/>
            <a:ext cx="6041542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58730896" y="3483864"/>
            <a:ext cx="60342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company profile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6032" y="3858768"/>
            <a:ext cx="8631936" cy="731520"/>
          </a:xfrm>
          <a:prstGeom prst="rect">
            <a:avLst/>
          </a:prstGeom>
          <a:solidFill>
            <a:srgbClr val="D6EAD7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391363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Ethical Controls: (1) All factual claims verified against primary source  (2) Estimated data labeled ⚠ in every chart  (3) No personally identifiable picker/PIBO data used  (4) AI-generated text reviewed and corrected before use  (5) Full Prompt Logbook — 12 entries — in Report Annexure A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56032" y="4709160"/>
            <a:ext cx="8631936" cy="164592"/>
          </a:xfrm>
          <a:prstGeom prst="rect">
            <a:avLst/>
          </a:prstGeom>
          <a:solidFill>
            <a:srgbClr val="D6EAD7"/>
          </a:solidFill>
          <a:ln/>
        </p:spPr>
      </p:sp>
      <p:sp>
        <p:nvSpPr>
          <p:cNvPr id="61" name="Text 59"/>
          <p:cNvSpPr/>
          <p:nvPr/>
        </p:nvSpPr>
        <p:spPr>
          <a:xfrm>
            <a:off x="310896" y="4718304"/>
            <a:ext cx="8503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IIM Ranchi WAI Policy  |  NEPRA Official Reports  |  NEPRA_WAI_Analysis_Final.py (submitted)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63" name="Text 61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  |  Roll XW013-25  |  EMBA 2025 Winter  |  IIM Ranchi  |  ENT + WAI Project  |  Data: NEPRA BRSR + GHG Reports FY2022-23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  —  Grounded in BRSR &amp; GHG Report Operational Gaps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46888" y="749808"/>
            <a:ext cx="4187952" cy="1865376"/>
          </a:xfrm>
          <a:prstGeom prst="rect">
            <a:avLst/>
          </a:prstGeom>
          <a:solidFill>
            <a:srgbClr val="1D2B1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" y="749808"/>
            <a:ext cx="41879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786384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7863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Biometric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8328" y="124358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facial recognition + digital weighing across all 5 MRF cities. BRSR shows Bengaluru added recently. Zero unverified transactions.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" y="23408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0-12 months  |  ₹60-80L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749808"/>
            <a:ext cx="4187952" cy="1865376"/>
          </a:xfrm>
          <a:prstGeom prst="rect">
            <a:avLst/>
          </a:prstGeom>
          <a:solidFill>
            <a:srgbClr val="1D2B1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749808"/>
            <a:ext cx="41879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786384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39512" y="7863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Predictor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Client Feature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82312" y="124358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linear regression model into EPR Connect PIBO dashboard. Clients see 3-6 month compliance forecast. No competitor offers this.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2312" y="23408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 months  |  ₹15-20L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888" y="2724912"/>
            <a:ext cx="4187952" cy="1865376"/>
          </a:xfrm>
          <a:prstGeom prst="rect">
            <a:avLst/>
          </a:prstGeom>
          <a:solidFill>
            <a:srgbClr val="1D2B1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" y="2724912"/>
            <a:ext cx="41879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" y="2761488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" y="27614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2/3 EPR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" y="321868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NEPRA platform + methodology to local entrepreneurs. BRSR: 4 MRFs but 33-state EPR coverage. The gap is the opportunity.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" y="43159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12-36 months  |  ₹3-5 Cr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2724912"/>
            <a:ext cx="4187952" cy="1865376"/>
          </a:xfrm>
          <a:prstGeom prst="rect">
            <a:avLst/>
          </a:prstGeom>
          <a:solidFill>
            <a:srgbClr val="1D2B1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724912"/>
            <a:ext cx="41879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4782312" y="2761488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39512" y="27614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Material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B2B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82312" y="321868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where recyclers bid for NEPRA-certified batches. NEPRA's origin + quality data from BRSR/GHG is the unfair advantage.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82312" y="43159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18-30 months  |  ₹4-6 Cr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problems, documented by IFC + BII + NEPRA BRSR.  Two AI solutions.  Measurable, officially disclosed outcomes.  —  Himanshu Rai | XW013-25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Circularity — NEPRA Let's Recycle | ENT+WAI | IIM Ranchi</dc:title>
  <dc:subject>PptxGenJS Presentation</dc:subject>
  <dc:creator>Himanshu Rai | XW013-25 | EMBA 2025 Winter | IIM Ranchi</dc:creator>
  <cp:lastModifiedBy>Himanshu Rai | XW013-25 | EMBA 2025 Winter | IIM Ranchi</cp:lastModifiedBy>
  <cp:revision>1</cp:revision>
  <dcterms:created xsi:type="dcterms:W3CDTF">2026-02-27T16:27:32Z</dcterms:created>
  <dcterms:modified xsi:type="dcterms:W3CDTF">2026-02-27T16:27:32Z</dcterms:modified>
</cp:coreProperties>
</file>